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>
  <p:sldMasterIdLst>
    <p:sldMasterId id="2147483648" r:id="rId1"/>
  </p:sldMasterIdLst>
  <p:sldIdLst>
    <p:sldId id="256" r:id="rId2"/>
    <p:sldId id="271" r:id="rId3"/>
    <p:sldId id="282" r:id="rId4"/>
    <p:sldId id="283" r:id="rId5"/>
    <p:sldId id="284" r:id="rId6"/>
    <p:sldId id="285" r:id="rId7"/>
    <p:sldId id="286" r:id="rId8"/>
    <p:sldId id="287" r:id="rId9"/>
    <p:sldId id="288" r:id="rId10"/>
    <p:sldId id="289" r:id="rId11"/>
    <p:sldId id="290" r:id="rId12"/>
    <p:sldId id="291" r:id="rId13"/>
    <p:sldId id="292" r:id="rId14"/>
    <p:sldId id="293" r:id="rId15"/>
    <p:sldId id="294" r:id="rId16"/>
    <p:sldId id="295" r:id="rId17"/>
  </p:sldIdLst>
  <p:sldSz cx="12192000" cy="6858000"/>
  <p:notesSz cx="6858000" cy="9144000"/>
  <p:defaultTextStyle>
    <a:defPPr>
      <a:defRPr lang="he-IL"/>
    </a:defPPr>
    <a:lvl1pPr marL="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500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שקופית כותר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3E8CAAF9-ED3F-7B5C-6044-673A03FF65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כותרת משנה 2">
            <a:extLst>
              <a:ext uri="{FF2B5EF4-FFF2-40B4-BE49-F238E27FC236}">
                <a16:creationId xmlns:a16="http://schemas.microsoft.com/office/drawing/2014/main" id="{5EEE8B72-BB0F-B030-6E65-14A9AE50E3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e-IL"/>
              <a:t>לחץ כדי לערוך סגנון כותרת משנה של תבנית בסיס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0D9FBDC0-4689-594B-7959-5BE2F81B24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ED0972-D5FE-4AFB-86B2-2CB1318321F7}" type="datetimeFigureOut">
              <a:rPr lang="he-IL" smtClean="0"/>
              <a:t>כ"ה/אדר/תשפ"ו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9FAF2FBE-30E2-9B1C-7F4D-9F8CACE29F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1C82A59B-AED3-42EF-5765-6392B21B1C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7C9C5-AC4A-446C-8111-3AE7A7935D83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5530613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כותרת ותוכ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000B27C1-6A8A-298E-FA2D-638DBD7AA1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E8D8AC2C-5C72-0FAF-3A3D-1C6CF5E4E4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2E8031C5-1A90-9DEA-1913-2874199B6B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ED0972-D5FE-4AFB-86B2-2CB1318321F7}" type="datetimeFigureOut">
              <a:rPr lang="he-IL" smtClean="0"/>
              <a:t>כ"ה/אדר/תשפ"ו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90CFE126-9B4C-669B-56D3-13EF94FE6F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7299A241-38A8-7317-26F4-FA22F29D25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7C9C5-AC4A-446C-8111-3AE7A7935D83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4076516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כותרת מקטע עליונ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624AD381-687E-9AC5-2273-D843FF4D53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טקסט 2">
            <a:extLst>
              <a:ext uri="{FF2B5EF4-FFF2-40B4-BE49-F238E27FC236}">
                <a16:creationId xmlns:a16="http://schemas.microsoft.com/office/drawing/2014/main" id="{790AA24D-23AA-AA35-DAA3-E4D98EAC82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72CDAA9C-9366-D7AB-6724-C864C0142E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ED0972-D5FE-4AFB-86B2-2CB1318321F7}" type="datetimeFigureOut">
              <a:rPr lang="he-IL" smtClean="0"/>
              <a:t>כ"ה/אדר/תשפ"ו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1B48F983-58B4-74E6-1D7E-0555F2B619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3F248A83-43C8-7812-9FA2-2AC83DC25D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7C9C5-AC4A-446C-8111-3AE7A7935D83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4409364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שני תכנים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DAEE029C-77E9-4369-8392-73A19D5C56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02B03659-A6ED-6E11-9C3C-A7372E48E4A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תוכן 3">
            <a:extLst>
              <a:ext uri="{FF2B5EF4-FFF2-40B4-BE49-F238E27FC236}">
                <a16:creationId xmlns:a16="http://schemas.microsoft.com/office/drawing/2014/main" id="{0A1A96E6-75E6-174B-226B-E1CB5A078D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5" name="מציין מיקום של תאריך 4">
            <a:extLst>
              <a:ext uri="{FF2B5EF4-FFF2-40B4-BE49-F238E27FC236}">
                <a16:creationId xmlns:a16="http://schemas.microsoft.com/office/drawing/2014/main" id="{FD11B541-FE57-CF20-E177-10E173636A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ED0972-D5FE-4AFB-86B2-2CB1318321F7}" type="datetimeFigureOut">
              <a:rPr lang="he-IL" smtClean="0"/>
              <a:t>כ"ה/אדר/תשפ"ו</a:t>
            </a:fld>
            <a:endParaRPr lang="he-IL"/>
          </a:p>
        </p:txBody>
      </p:sp>
      <p:sp>
        <p:nvSpPr>
          <p:cNvPr id="6" name="מציין מיקום של כותרת תחתונה 5">
            <a:extLst>
              <a:ext uri="{FF2B5EF4-FFF2-40B4-BE49-F238E27FC236}">
                <a16:creationId xmlns:a16="http://schemas.microsoft.com/office/drawing/2014/main" id="{CE1F4D5C-3731-1B7F-117C-142DC35333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מציין מיקום של מספר שקופית 6">
            <a:extLst>
              <a:ext uri="{FF2B5EF4-FFF2-40B4-BE49-F238E27FC236}">
                <a16:creationId xmlns:a16="http://schemas.microsoft.com/office/drawing/2014/main" id="{3EEAC866-8218-6622-4CEF-AE5921A80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7C9C5-AC4A-446C-8111-3AE7A7935D83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143390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השווא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47A1BDFE-4FE9-2AEC-4CCD-4FDB6DC30D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טקסט 2">
            <a:extLst>
              <a:ext uri="{FF2B5EF4-FFF2-40B4-BE49-F238E27FC236}">
                <a16:creationId xmlns:a16="http://schemas.microsoft.com/office/drawing/2014/main" id="{4B9ECF8D-20B0-43E3-030D-E3D169C466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מציין מיקום תוכן 3">
            <a:extLst>
              <a:ext uri="{FF2B5EF4-FFF2-40B4-BE49-F238E27FC236}">
                <a16:creationId xmlns:a16="http://schemas.microsoft.com/office/drawing/2014/main" id="{5A38A4DB-FF4C-AC23-CC85-8301176AF1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5" name="מציין מיקום טקסט 4">
            <a:extLst>
              <a:ext uri="{FF2B5EF4-FFF2-40B4-BE49-F238E27FC236}">
                <a16:creationId xmlns:a16="http://schemas.microsoft.com/office/drawing/2014/main" id="{7C283679-43FC-E090-A74D-75BD54B86B6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6" name="מציין מיקום תוכן 5">
            <a:extLst>
              <a:ext uri="{FF2B5EF4-FFF2-40B4-BE49-F238E27FC236}">
                <a16:creationId xmlns:a16="http://schemas.microsoft.com/office/drawing/2014/main" id="{97DC0EDF-6C52-D6C5-D539-1B694F5AF55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7" name="מציין מיקום של תאריך 6">
            <a:extLst>
              <a:ext uri="{FF2B5EF4-FFF2-40B4-BE49-F238E27FC236}">
                <a16:creationId xmlns:a16="http://schemas.microsoft.com/office/drawing/2014/main" id="{FC9F92E1-EB73-B51A-9FC4-FB63A05C21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ED0972-D5FE-4AFB-86B2-2CB1318321F7}" type="datetimeFigureOut">
              <a:rPr lang="he-IL" smtClean="0"/>
              <a:t>כ"ה/אדר/תשפ"ו</a:t>
            </a:fld>
            <a:endParaRPr lang="he-IL"/>
          </a:p>
        </p:txBody>
      </p:sp>
      <p:sp>
        <p:nvSpPr>
          <p:cNvPr id="8" name="מציין מיקום של כותרת תחתונה 7">
            <a:extLst>
              <a:ext uri="{FF2B5EF4-FFF2-40B4-BE49-F238E27FC236}">
                <a16:creationId xmlns:a16="http://schemas.microsoft.com/office/drawing/2014/main" id="{C079440A-95BE-A81A-BF53-5ABB9827F1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9" name="מציין מיקום של מספר שקופית 8">
            <a:extLst>
              <a:ext uri="{FF2B5EF4-FFF2-40B4-BE49-F238E27FC236}">
                <a16:creationId xmlns:a16="http://schemas.microsoft.com/office/drawing/2014/main" id="{66D24BAE-15F1-254C-0A4A-29F8423961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7C9C5-AC4A-446C-8111-3AE7A7935D83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5984018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כותרת בלבד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250724B7-0B3D-1C16-32F0-C59645F861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של תאריך 2">
            <a:extLst>
              <a:ext uri="{FF2B5EF4-FFF2-40B4-BE49-F238E27FC236}">
                <a16:creationId xmlns:a16="http://schemas.microsoft.com/office/drawing/2014/main" id="{74C6BE53-BCAF-DF84-684B-7F6F656DB2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ED0972-D5FE-4AFB-86B2-2CB1318321F7}" type="datetimeFigureOut">
              <a:rPr lang="he-IL" smtClean="0"/>
              <a:t>כ"ה/אדר/תשפ"ו</a:t>
            </a:fld>
            <a:endParaRPr lang="he-IL"/>
          </a:p>
        </p:txBody>
      </p:sp>
      <p:sp>
        <p:nvSpPr>
          <p:cNvPr id="4" name="מציין מיקום של כותרת תחתונה 3">
            <a:extLst>
              <a:ext uri="{FF2B5EF4-FFF2-40B4-BE49-F238E27FC236}">
                <a16:creationId xmlns:a16="http://schemas.microsoft.com/office/drawing/2014/main" id="{69021732-AD2C-2DDC-17EF-126A861B27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5" name="מציין מיקום של מספר שקופית 4">
            <a:extLst>
              <a:ext uri="{FF2B5EF4-FFF2-40B4-BE49-F238E27FC236}">
                <a16:creationId xmlns:a16="http://schemas.microsoft.com/office/drawing/2014/main" id="{17EDD70C-CD50-DFC3-6B8D-DB920A3028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7C9C5-AC4A-446C-8111-3AE7A7935D83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9361319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ריק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אריך 1">
            <a:extLst>
              <a:ext uri="{FF2B5EF4-FFF2-40B4-BE49-F238E27FC236}">
                <a16:creationId xmlns:a16="http://schemas.microsoft.com/office/drawing/2014/main" id="{99783332-35C1-53A7-2147-7813B49D8A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ED0972-D5FE-4AFB-86B2-2CB1318321F7}" type="datetimeFigureOut">
              <a:rPr lang="he-IL" smtClean="0"/>
              <a:t>כ"ה/אדר/תשפ"ו</a:t>
            </a:fld>
            <a:endParaRPr lang="he-IL"/>
          </a:p>
        </p:txBody>
      </p:sp>
      <p:sp>
        <p:nvSpPr>
          <p:cNvPr id="3" name="מציין מיקום של כותרת תחתונה 2">
            <a:extLst>
              <a:ext uri="{FF2B5EF4-FFF2-40B4-BE49-F238E27FC236}">
                <a16:creationId xmlns:a16="http://schemas.microsoft.com/office/drawing/2014/main" id="{F1E0B043-1700-52E0-F8BA-B6286B0AF9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C271DA66-A6BA-09A7-A3AF-9E48402101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7C9C5-AC4A-446C-8111-3AE7A7935D83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6072073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תוכן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1DD4C064-25DE-93C0-95C8-3DE51F3C1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8282B461-E7B4-6858-2735-368D77F35D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טקסט 3">
            <a:extLst>
              <a:ext uri="{FF2B5EF4-FFF2-40B4-BE49-F238E27FC236}">
                <a16:creationId xmlns:a16="http://schemas.microsoft.com/office/drawing/2014/main" id="{458C0FB0-6506-7042-B9C2-9DC77F0D76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מציין מיקום של תאריך 4">
            <a:extLst>
              <a:ext uri="{FF2B5EF4-FFF2-40B4-BE49-F238E27FC236}">
                <a16:creationId xmlns:a16="http://schemas.microsoft.com/office/drawing/2014/main" id="{A84DB606-0470-C036-1DC4-775356B03C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ED0972-D5FE-4AFB-86B2-2CB1318321F7}" type="datetimeFigureOut">
              <a:rPr lang="he-IL" smtClean="0"/>
              <a:t>כ"ה/אדר/תשפ"ו</a:t>
            </a:fld>
            <a:endParaRPr lang="he-IL"/>
          </a:p>
        </p:txBody>
      </p:sp>
      <p:sp>
        <p:nvSpPr>
          <p:cNvPr id="6" name="מציין מיקום של כותרת תחתונה 5">
            <a:extLst>
              <a:ext uri="{FF2B5EF4-FFF2-40B4-BE49-F238E27FC236}">
                <a16:creationId xmlns:a16="http://schemas.microsoft.com/office/drawing/2014/main" id="{3CEA9858-5138-5BBE-CC27-239B507938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מציין מיקום של מספר שקופית 6">
            <a:extLst>
              <a:ext uri="{FF2B5EF4-FFF2-40B4-BE49-F238E27FC236}">
                <a16:creationId xmlns:a16="http://schemas.microsoft.com/office/drawing/2014/main" id="{ADA65C25-EDFA-F408-AAB4-0EAB981D53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7C9C5-AC4A-446C-8111-3AE7A7935D83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061023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תמונה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760DF0F6-D6DE-C05B-212D-70AEDB0BFE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של תמונה 2">
            <a:extLst>
              <a:ext uri="{FF2B5EF4-FFF2-40B4-BE49-F238E27FC236}">
                <a16:creationId xmlns:a16="http://schemas.microsoft.com/office/drawing/2014/main" id="{73C3D9EE-880F-9ED4-4C54-991BE4394CD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e-IL"/>
          </a:p>
        </p:txBody>
      </p:sp>
      <p:sp>
        <p:nvSpPr>
          <p:cNvPr id="4" name="מציין מיקום טקסט 3">
            <a:extLst>
              <a:ext uri="{FF2B5EF4-FFF2-40B4-BE49-F238E27FC236}">
                <a16:creationId xmlns:a16="http://schemas.microsoft.com/office/drawing/2014/main" id="{C7E7FD8A-26B2-07DC-F653-05EA9483D8B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מציין מיקום של תאריך 4">
            <a:extLst>
              <a:ext uri="{FF2B5EF4-FFF2-40B4-BE49-F238E27FC236}">
                <a16:creationId xmlns:a16="http://schemas.microsoft.com/office/drawing/2014/main" id="{23024365-089A-94B0-8CB5-5B427C1B3A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ED0972-D5FE-4AFB-86B2-2CB1318321F7}" type="datetimeFigureOut">
              <a:rPr lang="he-IL" smtClean="0"/>
              <a:t>כ"ה/אדר/תשפ"ו</a:t>
            </a:fld>
            <a:endParaRPr lang="he-IL"/>
          </a:p>
        </p:txBody>
      </p:sp>
      <p:sp>
        <p:nvSpPr>
          <p:cNvPr id="6" name="מציין מיקום של כותרת תחתונה 5">
            <a:extLst>
              <a:ext uri="{FF2B5EF4-FFF2-40B4-BE49-F238E27FC236}">
                <a16:creationId xmlns:a16="http://schemas.microsoft.com/office/drawing/2014/main" id="{D4087F16-4654-2739-B807-73122CACE3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מציין מיקום של מספר שקופית 6">
            <a:extLst>
              <a:ext uri="{FF2B5EF4-FFF2-40B4-BE49-F238E27FC236}">
                <a16:creationId xmlns:a16="http://schemas.microsoft.com/office/drawing/2014/main" id="{3F23B21A-5A44-43C0-6F6B-1E7251A34B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7C9C5-AC4A-446C-8111-3AE7A7935D83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5529008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כותרת וטקסט אנכ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79F1E83D-2EA0-F1FE-D6E8-BCEA479304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של טקסט אנכי 2">
            <a:extLst>
              <a:ext uri="{FF2B5EF4-FFF2-40B4-BE49-F238E27FC236}">
                <a16:creationId xmlns:a16="http://schemas.microsoft.com/office/drawing/2014/main" id="{68C0E12A-85E8-4B1A-782E-1EDF2DB50B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B9F4FFC1-DC21-326D-670B-9958B7C8EC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ED0972-D5FE-4AFB-86B2-2CB1318321F7}" type="datetimeFigureOut">
              <a:rPr lang="he-IL" smtClean="0"/>
              <a:t>כ"ה/אדר/תשפ"ו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B86C4EEB-138A-FD42-FAB7-E40FE2329D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6785B1FF-3EFD-D0AA-2E57-19AF7E80C8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7C9C5-AC4A-446C-8111-3AE7A7935D83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0332032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כותרת אנכית וטקס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אנכית 1">
            <a:extLst>
              <a:ext uri="{FF2B5EF4-FFF2-40B4-BE49-F238E27FC236}">
                <a16:creationId xmlns:a16="http://schemas.microsoft.com/office/drawing/2014/main" id="{88C184E8-B136-0590-49F5-195935217F3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של טקסט אנכי 2">
            <a:extLst>
              <a:ext uri="{FF2B5EF4-FFF2-40B4-BE49-F238E27FC236}">
                <a16:creationId xmlns:a16="http://schemas.microsoft.com/office/drawing/2014/main" id="{14F8D8FC-3EB6-28BE-9BBA-1FA372F5231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C7109EF3-7773-6F44-6920-7505F87167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ED0972-D5FE-4AFB-86B2-2CB1318321F7}" type="datetimeFigureOut">
              <a:rPr lang="he-IL" smtClean="0"/>
              <a:t>כ"ה/אדר/תשפ"ו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A0055EA8-7CC8-76E2-F12A-7521593CA5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B4AAC46A-3167-C382-89B5-C8CD19E262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7C9C5-AC4A-446C-8111-3AE7A7935D83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4023467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כותרת 1">
            <a:extLst>
              <a:ext uri="{FF2B5EF4-FFF2-40B4-BE49-F238E27FC236}">
                <a16:creationId xmlns:a16="http://schemas.microsoft.com/office/drawing/2014/main" id="{612D0230-93A0-7F2F-5A03-C9CEFB30D7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1" anchor="ctr">
            <a:normAutofit/>
          </a:bodyPr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טקסט 2">
            <a:extLst>
              <a:ext uri="{FF2B5EF4-FFF2-40B4-BE49-F238E27FC236}">
                <a16:creationId xmlns:a16="http://schemas.microsoft.com/office/drawing/2014/main" id="{F28B0763-7079-693B-E99D-7D5312DA32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1">
            <a:normAutofit/>
          </a:bodyPr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96AC027F-84E1-8584-6FEB-F77C5446B36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1ED0972-D5FE-4AFB-86B2-2CB1318321F7}" type="datetimeFigureOut">
              <a:rPr lang="he-IL" smtClean="0"/>
              <a:t>כ"ה/אדר/תשפ"ו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B3900BEE-642F-9376-F95D-01CAB9100D6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D56E9C31-934F-E034-B1EA-A69E99C06C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37C9C5-AC4A-446C-8111-3AE7A7935D83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9075535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r" defTabSz="914400" rtl="1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r" defTabSz="914400" rtl="1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e-IL"/>
      </a:defPPr>
      <a:lvl1pPr marL="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כותרת משנה 2">
            <a:extLst>
              <a:ext uri="{FF2B5EF4-FFF2-40B4-BE49-F238E27FC236}">
                <a16:creationId xmlns:a16="http://schemas.microsoft.com/office/drawing/2014/main" id="{9CA05413-FDC0-01B9-053E-35AF0A63A0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61744" y="694944"/>
            <a:ext cx="9247632" cy="5061204"/>
          </a:xfrm>
        </p:spPr>
        <p:txBody>
          <a:bodyPr>
            <a:normAutofit/>
          </a:bodyPr>
          <a:lstStyle/>
          <a:p>
            <a:r>
              <a:rPr lang="en-US" b="1" i="0" u="none" strike="noStrike" baseline="0" dirty="0">
                <a:latin typeface="TimesNewRomanPS-BoldMT"/>
                <a:cs typeface="+mj-cs"/>
              </a:rPr>
              <a:t>Classification of objects at a very low resolution</a:t>
            </a:r>
            <a:br>
              <a:rPr lang="en-US" b="1" i="0" u="none" strike="noStrike" baseline="0" dirty="0">
                <a:latin typeface="TimesNewRomanPS-BoldMT"/>
                <a:cs typeface="+mj-cs"/>
              </a:rPr>
            </a:br>
            <a:endParaRPr lang="en-US" b="1" i="0" u="none" strike="noStrike" baseline="0" dirty="0">
              <a:latin typeface="TimesNewRomanPS-BoldMT"/>
              <a:cs typeface="+mj-cs"/>
            </a:endParaRPr>
          </a:p>
          <a:p>
            <a:r>
              <a:rPr lang="en-US" b="0" i="0" u="none" strike="noStrike" baseline="0" dirty="0">
                <a:latin typeface="TimesNewRomanPSMT"/>
                <a:cs typeface="+mj-cs"/>
              </a:rPr>
              <a:t>Project number: s-2026-045 / p-2026-061</a:t>
            </a:r>
            <a:br>
              <a:rPr lang="en-US" b="0" i="0" u="none" strike="noStrike" baseline="0" dirty="0">
                <a:latin typeface="TimesNewRomanPSMT"/>
                <a:cs typeface="+mj-cs"/>
              </a:rPr>
            </a:br>
            <a:br>
              <a:rPr lang="en-US" b="0" i="0" u="none" strike="noStrike" baseline="0" dirty="0">
                <a:latin typeface="TimesNewRomanPSMT"/>
                <a:cs typeface="+mj-cs"/>
              </a:rPr>
            </a:br>
            <a:r>
              <a:rPr lang="en-US" b="0" i="0" u="none" strike="noStrike" baseline="0" dirty="0">
                <a:latin typeface="TimesNewRomanPSMT"/>
                <a:cs typeface="+mj-cs"/>
              </a:rPr>
              <a:t>Students: Dotan Ann Hanna 211542311, Bahat Itamar 205805856</a:t>
            </a:r>
            <a:br>
              <a:rPr lang="en-US" b="0" i="0" u="none" strike="noStrike" baseline="0" dirty="0">
                <a:latin typeface="TimesNewRomanPSMT"/>
                <a:cs typeface="+mj-cs"/>
              </a:rPr>
            </a:br>
            <a:endParaRPr lang="en-US" b="0" i="0" u="none" strike="noStrike" baseline="0" dirty="0">
              <a:latin typeface="TimesNewRomanPSMT"/>
              <a:cs typeface="+mj-cs"/>
            </a:endParaRPr>
          </a:p>
          <a:p>
            <a:r>
              <a:rPr lang="en-US" b="0" i="1" u="none" strike="noStrike" baseline="0" dirty="0">
                <a:latin typeface="TimesNewRomanPS-ItalicMT"/>
                <a:cs typeface="+mj-cs"/>
              </a:rPr>
              <a:t>Emails: anndo@post.bgu.ac.il, bahit@post.bgu.ac.il </a:t>
            </a:r>
            <a:br>
              <a:rPr lang="en-US" b="0" i="1" u="none" strike="noStrike" baseline="0" dirty="0">
                <a:latin typeface="TimesNewRomanPS-ItalicMT"/>
                <a:cs typeface="+mj-cs"/>
              </a:rPr>
            </a:br>
            <a:br>
              <a:rPr lang="en-US" b="0" i="1" u="none" strike="noStrike" baseline="0" dirty="0">
                <a:latin typeface="TimesNewRomanPS-ItalicMT"/>
                <a:cs typeface="+mj-cs"/>
              </a:rPr>
            </a:br>
            <a:r>
              <a:rPr lang="en-US" b="0" i="0" u="none" strike="noStrike" baseline="0" dirty="0">
                <a:latin typeface="TimesNewRomanPSMT"/>
                <a:cs typeface="+mj-cs"/>
              </a:rPr>
              <a:t>Supervisors: </a:t>
            </a:r>
            <a:r>
              <a:rPr lang="en-US" b="0" i="0" u="none" strike="noStrike" baseline="0" dirty="0" err="1">
                <a:latin typeface="TimesNewRomanPSMT"/>
                <a:cs typeface="+mj-cs"/>
              </a:rPr>
              <a:t>Yitzhaky</a:t>
            </a:r>
            <a:r>
              <a:rPr lang="en-US" b="0" i="0" u="none" strike="noStrike" baseline="0" dirty="0">
                <a:latin typeface="TimesNewRomanPSMT"/>
                <a:cs typeface="+mj-cs"/>
              </a:rPr>
              <a:t> Yitzhak, Lerner Rinat </a:t>
            </a:r>
            <a:br>
              <a:rPr lang="en-US" b="0" i="0" u="none" strike="noStrike" baseline="0" dirty="0">
                <a:latin typeface="TimesNewRomanPSMT"/>
                <a:cs typeface="+mj-cs"/>
              </a:rPr>
            </a:br>
            <a:br>
              <a:rPr lang="en-US" b="0" i="0" u="none" strike="noStrike" baseline="0" dirty="0">
                <a:latin typeface="TimesNewRomanPSMT"/>
                <a:cs typeface="+mj-cs"/>
              </a:rPr>
            </a:br>
            <a:r>
              <a:rPr lang="en-US" b="0" i="0" u="none" strike="noStrike" baseline="0" dirty="0">
                <a:latin typeface="TimesNewRomanPSMT"/>
                <a:cs typeface="+mj-cs"/>
              </a:rPr>
              <a:t>Progress Presentation</a:t>
            </a:r>
            <a:br>
              <a:rPr lang="en-US" b="0" i="0" u="none" strike="noStrike" baseline="0" dirty="0">
                <a:latin typeface="TimesNewRomanPSMT"/>
                <a:cs typeface="+mj-cs"/>
              </a:rPr>
            </a:br>
            <a:br>
              <a:rPr lang="en-US" b="0" i="0" u="none" strike="noStrike" baseline="0" dirty="0">
                <a:latin typeface="TimesNewRomanPSMT"/>
                <a:cs typeface="+mj-cs"/>
              </a:rPr>
            </a:br>
            <a:r>
              <a:rPr lang="en-US" b="0" i="0" u="none" strike="noStrike" baseline="0" dirty="0">
                <a:latin typeface="TimesNewRomanPSMT"/>
                <a:cs typeface="+mj-cs"/>
              </a:rPr>
              <a:t>March 2026</a:t>
            </a:r>
            <a:endParaRPr lang="he-IL" dirty="0">
              <a:cs typeface="+mj-cs"/>
            </a:endParaRPr>
          </a:p>
        </p:txBody>
      </p:sp>
      <p:pic>
        <p:nvPicPr>
          <p:cNvPr id="7" name="תמונה 6">
            <a:extLst>
              <a:ext uri="{FF2B5EF4-FFF2-40B4-BE49-F238E27FC236}">
                <a16:creationId xmlns:a16="http://schemas.microsoft.com/office/drawing/2014/main" id="{3893066E-F471-57F8-B678-E965946501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3" y="529540"/>
            <a:ext cx="1586368" cy="15232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31161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8B1C04-0EC1-BADD-7631-222C10788C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כותרת משנה 6">
            <a:extLst>
              <a:ext uri="{FF2B5EF4-FFF2-40B4-BE49-F238E27FC236}">
                <a16:creationId xmlns:a16="http://schemas.microsoft.com/office/drawing/2014/main" id="{664CCE51-4307-E5B9-39B4-2FBE39FD6C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06880" y="658368"/>
            <a:ext cx="9144000" cy="978408"/>
          </a:xfrm>
        </p:spPr>
        <p:txBody>
          <a:bodyPr/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Motivation</a:t>
            </a: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Image Classification under Severe Image Degradation</a:t>
            </a:r>
            <a:endParaRPr lang="he-IL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כותרת משנה 6">
            <a:extLst>
              <a:ext uri="{FF2B5EF4-FFF2-40B4-BE49-F238E27FC236}">
                <a16:creationId xmlns:a16="http://schemas.microsoft.com/office/drawing/2014/main" id="{577EFE44-6F8D-FE07-D250-DBFE36559CA9}"/>
              </a:ext>
            </a:extLst>
          </p:cNvPr>
          <p:cNvSpPr txBox="1">
            <a:spLocks/>
          </p:cNvSpPr>
          <p:nvPr/>
        </p:nvSpPr>
        <p:spPr>
          <a:xfrm>
            <a:off x="1706880" y="1837944"/>
            <a:ext cx="9211056" cy="4242816"/>
          </a:xfrm>
          <a:prstGeom prst="rect">
            <a:avLst/>
          </a:prstGeom>
        </p:spPr>
        <p:txBody>
          <a:bodyPr vert="horz" lIns="91440" tIns="45720" rIns="91440" bIns="45720" rtlCol="1">
            <a:normAutofit/>
          </a:bodyPr>
          <a:lstStyle>
            <a:lvl1pPr marL="0" indent="0" algn="ct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Modern image classification systems assume high-quality images</a:t>
            </a:r>
          </a:p>
          <a:p>
            <a:pPr algn="l"/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However, many real-world sensors produce degraded images:</a:t>
            </a:r>
          </a:p>
          <a:p>
            <a:pPr algn="l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Low resolution</a:t>
            </a:r>
          </a:p>
          <a:p>
            <a:pPr algn="l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High noise</a:t>
            </a:r>
          </a:p>
          <a:p>
            <a:pPr algn="l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Blurring and loss of details</a:t>
            </a:r>
          </a:p>
          <a:p>
            <a:pPr algn="l"/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significantly reduces classification accuracy</a:t>
            </a:r>
            <a:endParaRPr lang="he-IL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76812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53B24D-A8FA-5C7A-8704-7D96414735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כותרת משנה 6">
            <a:extLst>
              <a:ext uri="{FF2B5EF4-FFF2-40B4-BE49-F238E27FC236}">
                <a16:creationId xmlns:a16="http://schemas.microsoft.com/office/drawing/2014/main" id="{5643296E-E44C-D0B6-7CFD-E832A4C480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06880" y="658368"/>
            <a:ext cx="9144000" cy="978408"/>
          </a:xfrm>
        </p:spPr>
        <p:txBody>
          <a:bodyPr/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Research Problem</a:t>
            </a:r>
            <a:endParaRPr lang="he-IL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כותרת משנה 6">
            <a:extLst>
              <a:ext uri="{FF2B5EF4-FFF2-40B4-BE49-F238E27FC236}">
                <a16:creationId xmlns:a16="http://schemas.microsoft.com/office/drawing/2014/main" id="{4B286F4F-DAFF-EA7A-B286-FC497EF63EA5}"/>
              </a:ext>
            </a:extLst>
          </p:cNvPr>
          <p:cNvSpPr txBox="1">
            <a:spLocks/>
          </p:cNvSpPr>
          <p:nvPr/>
        </p:nvSpPr>
        <p:spPr>
          <a:xfrm>
            <a:off x="1706880" y="1837944"/>
            <a:ext cx="9211056" cy="4242816"/>
          </a:xfrm>
          <a:prstGeom prst="rect">
            <a:avLst/>
          </a:prstGeom>
        </p:spPr>
        <p:txBody>
          <a:bodyPr vert="horz" lIns="91440" tIns="45720" rIns="91440" bIns="45720" rtlCol="1">
            <a:normAutofit fontScale="92500" lnSpcReduction="10000"/>
          </a:bodyPr>
          <a:lstStyle>
            <a:lvl1pPr marL="0" indent="0" algn="ct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Standard CNN classifiers rely on high-frequency visual details</a:t>
            </a:r>
          </a:p>
          <a:p>
            <a:pPr algn="l"/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When images are heavily degraded:</a:t>
            </a:r>
          </a:p>
          <a:p>
            <a:pPr algn="l"/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textures and edges are lost</a:t>
            </a:r>
          </a:p>
          <a:p>
            <a:pPr algn="l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spatial information is reduced</a:t>
            </a:r>
          </a:p>
          <a:p>
            <a:pPr algn="l"/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 a result, classification accuracy drops significantly</a:t>
            </a:r>
          </a:p>
          <a:p>
            <a:pPr algn="l"/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Research Question:</a:t>
            </a:r>
          </a:p>
          <a:p>
            <a:pPr algn="l"/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How robust are modern deep learning models</a:t>
            </a:r>
          </a:p>
          <a:p>
            <a:pPr algn="l"/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severe image degradation?</a:t>
            </a:r>
            <a:endParaRPr lang="he-IL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00912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A66A81-283F-BFB7-EF2A-84D08A9C6F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כותרת משנה 6">
            <a:extLst>
              <a:ext uri="{FF2B5EF4-FFF2-40B4-BE49-F238E27FC236}">
                <a16:creationId xmlns:a16="http://schemas.microsoft.com/office/drawing/2014/main" id="{01BEBA7F-EAB1-C168-8B5B-3730C1F4C3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06880" y="658368"/>
            <a:ext cx="9144000" cy="978408"/>
          </a:xfrm>
        </p:spPr>
        <p:txBody>
          <a:bodyPr/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 Goals</a:t>
            </a:r>
            <a:endParaRPr lang="he-IL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כותרת משנה 6">
            <a:extLst>
              <a:ext uri="{FF2B5EF4-FFF2-40B4-BE49-F238E27FC236}">
                <a16:creationId xmlns:a16="http://schemas.microsoft.com/office/drawing/2014/main" id="{96C8098C-E6F7-A4A3-3094-CEB34BC10876}"/>
              </a:ext>
            </a:extLst>
          </p:cNvPr>
          <p:cNvSpPr txBox="1">
            <a:spLocks/>
          </p:cNvSpPr>
          <p:nvPr/>
        </p:nvSpPr>
        <p:spPr>
          <a:xfrm>
            <a:off x="1706880" y="1837944"/>
            <a:ext cx="9211056" cy="4242816"/>
          </a:xfrm>
          <a:prstGeom prst="rect">
            <a:avLst/>
          </a:prstGeom>
        </p:spPr>
        <p:txBody>
          <a:bodyPr vert="horz" lIns="91440" tIns="45720" rIns="91440" bIns="45720" rtlCol="1">
            <a:normAutofit fontScale="92500" lnSpcReduction="20000"/>
          </a:bodyPr>
          <a:lstStyle>
            <a:lvl1pPr marL="0" indent="0" algn="ct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Evaluate the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robustness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of deep learning models</a:t>
            </a:r>
          </a:p>
          <a:p>
            <a:pPr algn="l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under severe image degradation</a:t>
            </a:r>
          </a:p>
          <a:p>
            <a:pPr algn="l"/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Compare different model architectures:</a:t>
            </a:r>
          </a:p>
          <a:p>
            <a:pPr algn="l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ResNet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DenseNet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TransNeXt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Study the effect of degradation on classification accuracy</a:t>
            </a:r>
          </a:p>
          <a:p>
            <a:pPr algn="l"/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Achieve high classification performance</a:t>
            </a:r>
          </a:p>
          <a:p>
            <a:pPr algn="l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even with degraded inputs</a:t>
            </a:r>
            <a:endParaRPr lang="he-IL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202731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A46BA3-0A8E-3675-4309-E88AC63AC7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כותרת משנה 6">
            <a:extLst>
              <a:ext uri="{FF2B5EF4-FFF2-40B4-BE49-F238E27FC236}">
                <a16:creationId xmlns:a16="http://schemas.microsoft.com/office/drawing/2014/main" id="{5B6DC6C4-6E4D-2099-6AE2-57B17E3E22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06880" y="658368"/>
            <a:ext cx="9144000" cy="978408"/>
          </a:xfrm>
        </p:spPr>
        <p:txBody>
          <a:bodyPr/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</a:t>
            </a:r>
          </a:p>
          <a:p>
            <a:endParaRPr lang="he-IL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כותרת משנה 6">
            <a:extLst>
              <a:ext uri="{FF2B5EF4-FFF2-40B4-BE49-F238E27FC236}">
                <a16:creationId xmlns:a16="http://schemas.microsoft.com/office/drawing/2014/main" id="{6863F4B2-F4F5-4C5D-970C-F91E2D523BA4}"/>
              </a:ext>
            </a:extLst>
          </p:cNvPr>
          <p:cNvSpPr txBox="1">
            <a:spLocks/>
          </p:cNvSpPr>
          <p:nvPr/>
        </p:nvSpPr>
        <p:spPr>
          <a:xfrm>
            <a:off x="1207008" y="1248156"/>
            <a:ext cx="9012936" cy="4690872"/>
          </a:xfrm>
          <a:prstGeom prst="rect">
            <a:avLst/>
          </a:prstGeom>
        </p:spPr>
        <p:txBody>
          <a:bodyPr vert="horz" lIns="91440" tIns="45720" rIns="91440" bIns="45720" rtlCol="1">
            <a:normAutofit fontScale="92500" lnSpcReduction="20000"/>
          </a:bodyPr>
          <a:lstStyle>
            <a:lvl1pPr marL="0" indent="0" algn="ct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Primary dataset used in the current experiments: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CIFAR-10</a:t>
            </a:r>
          </a:p>
          <a:p>
            <a:pPr algn="l"/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60,000 labeled images</a:t>
            </a:r>
          </a:p>
          <a:p>
            <a:pPr algn="l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10 object classes</a:t>
            </a:r>
          </a:p>
          <a:p>
            <a:pPr algn="l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Image resolution: 32 × 32 pixels</a:t>
            </a:r>
          </a:p>
          <a:p>
            <a:pPr algn="l"/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 split:</a:t>
            </a:r>
          </a:p>
          <a:p>
            <a:pPr algn="l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50,000 training images</a:t>
            </a:r>
          </a:p>
          <a:p>
            <a:pPr algn="l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10,000 test images</a:t>
            </a:r>
          </a:p>
          <a:p>
            <a:pPr algn="l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Chosen due to its small resolution</a:t>
            </a:r>
          </a:p>
          <a:p>
            <a:pPr algn="l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which fits low-resolution classification research</a:t>
            </a:r>
          </a:p>
          <a:p>
            <a:pPr algn="l"/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Future work:</a:t>
            </a:r>
          </a:p>
          <a:p>
            <a:pPr algn="l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Additional experiments on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MNIST</a:t>
            </a:r>
            <a:endParaRPr lang="he-IL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89906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F48FC4-3560-ECA0-F924-153A65C2A0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כותרת משנה 6">
            <a:extLst>
              <a:ext uri="{FF2B5EF4-FFF2-40B4-BE49-F238E27FC236}">
                <a16:creationId xmlns:a16="http://schemas.microsoft.com/office/drawing/2014/main" id="{07C8E569-3BC7-45BD-9BB4-B3C66D324A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06880" y="658368"/>
            <a:ext cx="9144000" cy="978408"/>
          </a:xfrm>
        </p:spPr>
        <p:txBody>
          <a:bodyPr/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THz-Like Image Degradation Simulation</a:t>
            </a:r>
            <a:endParaRPr lang="he-IL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כותרת משנה 6">
            <a:extLst>
              <a:ext uri="{FF2B5EF4-FFF2-40B4-BE49-F238E27FC236}">
                <a16:creationId xmlns:a16="http://schemas.microsoft.com/office/drawing/2014/main" id="{FDCD09A2-85D8-D608-0F22-5C8FFDE6E769}"/>
              </a:ext>
            </a:extLst>
          </p:cNvPr>
          <p:cNvSpPr txBox="1">
            <a:spLocks/>
          </p:cNvSpPr>
          <p:nvPr/>
        </p:nvSpPr>
        <p:spPr>
          <a:xfrm>
            <a:off x="1633728" y="1435608"/>
            <a:ext cx="4968240" cy="4242816"/>
          </a:xfrm>
          <a:prstGeom prst="rect">
            <a:avLst/>
          </a:prstGeom>
        </p:spPr>
        <p:txBody>
          <a:bodyPr vert="horz" lIns="91440" tIns="45720" rIns="91440" bIns="45720" rtlCol="1">
            <a:normAutofit/>
          </a:bodyPr>
          <a:lstStyle>
            <a:lvl1pPr marL="0" indent="0" algn="ct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simulate THz imaging conditions,</a:t>
            </a:r>
          </a:p>
          <a:p>
            <a:pPr algn="l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 apply controlled degradation to the images.</a:t>
            </a:r>
          </a:p>
          <a:p>
            <a:pPr algn="l"/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Degradation operations include:</a:t>
            </a:r>
          </a:p>
          <a:p>
            <a:pPr algn="l"/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Resolution reduction (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downsampling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algn="l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Gaussian blur</a:t>
            </a:r>
          </a:p>
          <a:p>
            <a:pPr algn="l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Noise injection</a:t>
            </a:r>
          </a:p>
          <a:p>
            <a:pPr algn="l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Color information removal</a:t>
            </a:r>
          </a:p>
          <a:p>
            <a:pPr algn="l"/>
            <a:r>
              <a:rPr lang="en-US" sz="2000" dirty="0">
                <a:solidFill>
                  <a:srgbClr val="FF0000"/>
                </a:solidFill>
              </a:rPr>
              <a:t>[Images showing degradation pipeline]</a:t>
            </a:r>
            <a:endParaRPr lang="he-IL" sz="20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כותרת משנה 6">
            <a:extLst>
              <a:ext uri="{FF2B5EF4-FFF2-40B4-BE49-F238E27FC236}">
                <a16:creationId xmlns:a16="http://schemas.microsoft.com/office/drawing/2014/main" id="{FF564FB0-B24A-E90C-8867-99CC31277C86}"/>
              </a:ext>
            </a:extLst>
          </p:cNvPr>
          <p:cNvSpPr txBox="1">
            <a:spLocks/>
          </p:cNvSpPr>
          <p:nvPr/>
        </p:nvSpPr>
        <p:spPr>
          <a:xfrm>
            <a:off x="7744968" y="1435608"/>
            <a:ext cx="2898648" cy="4242816"/>
          </a:xfrm>
          <a:prstGeom prst="rect">
            <a:avLst/>
          </a:prstGeom>
        </p:spPr>
        <p:txBody>
          <a:bodyPr vert="horz" lIns="91440" tIns="45720" rIns="91440" bIns="45720" rtlCol="1">
            <a:normAutofit/>
          </a:bodyPr>
          <a:lstStyle>
            <a:lvl1pPr marL="0" indent="0" algn="ct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he-IL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לשים תרשים:</a:t>
            </a:r>
            <a:br>
              <a:rPr lang="en-US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Original Image</a:t>
            </a:r>
          </a:p>
          <a:p>
            <a:pPr algn="l"/>
            <a:r>
              <a:rPr lang="en-US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↓</a:t>
            </a:r>
          </a:p>
          <a:p>
            <a:pPr algn="l"/>
            <a:r>
              <a:rPr lang="en-US" sz="2000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Downsample</a:t>
            </a:r>
            <a:r>
              <a:rPr lang="en-US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en-US" sz="2000" dirty="0">
                <a:solidFill>
                  <a:srgbClr val="FF0000"/>
                </a:solidFill>
              </a:rPr>
              <a:t>Low Resolution)</a:t>
            </a:r>
            <a:endParaRPr lang="en-US" sz="20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US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↓</a:t>
            </a:r>
          </a:p>
          <a:p>
            <a:pPr algn="l"/>
            <a:r>
              <a:rPr lang="en-US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Blurred</a:t>
            </a:r>
          </a:p>
          <a:p>
            <a:pPr algn="l"/>
            <a:r>
              <a:rPr lang="en-US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↓</a:t>
            </a:r>
          </a:p>
          <a:p>
            <a:pPr algn="l"/>
            <a:r>
              <a:rPr lang="en-US" sz="2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Noisy</a:t>
            </a:r>
          </a:p>
        </p:txBody>
      </p:sp>
    </p:spTree>
    <p:extLst>
      <p:ext uri="{BB962C8B-B14F-4D97-AF65-F5344CB8AC3E}">
        <p14:creationId xmlns:p14="http://schemas.microsoft.com/office/powerpoint/2010/main" val="5119829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22B38A-73C5-C008-7561-DD1590E848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כותרת משנה 6">
            <a:extLst>
              <a:ext uri="{FF2B5EF4-FFF2-40B4-BE49-F238E27FC236}">
                <a16:creationId xmlns:a16="http://schemas.microsoft.com/office/drawing/2014/main" id="{662ED99C-AEE1-BF44-09F2-52B955FF11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06880" y="658368"/>
            <a:ext cx="9144000" cy="978408"/>
          </a:xfrm>
        </p:spPr>
        <p:txBody>
          <a:bodyPr/>
          <a:lstStyle/>
          <a:p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System Pipeline</a:t>
            </a:r>
            <a:endParaRPr lang="he-IL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כותרת משנה 6">
            <a:extLst>
              <a:ext uri="{FF2B5EF4-FFF2-40B4-BE49-F238E27FC236}">
                <a16:creationId xmlns:a16="http://schemas.microsoft.com/office/drawing/2014/main" id="{2EE2EBB1-0076-3A3E-151B-E5897E12BAB3}"/>
              </a:ext>
            </a:extLst>
          </p:cNvPr>
          <p:cNvSpPr txBox="1">
            <a:spLocks/>
          </p:cNvSpPr>
          <p:nvPr/>
        </p:nvSpPr>
        <p:spPr>
          <a:xfrm>
            <a:off x="6501384" y="1069848"/>
            <a:ext cx="5111496" cy="5724144"/>
          </a:xfrm>
          <a:prstGeom prst="rect">
            <a:avLst/>
          </a:prstGeom>
        </p:spPr>
        <p:txBody>
          <a:bodyPr vert="horz" lIns="91440" tIns="45720" rIns="91440" bIns="45720" rtlCol="1">
            <a:normAutofit fontScale="92500" lnSpcReduction="10000"/>
          </a:bodyPr>
          <a:lstStyle>
            <a:lvl1pPr marL="0" indent="0" algn="ct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he-IL" sz="1200" dirty="0">
                <a:solidFill>
                  <a:srgbClr val="FF0000"/>
                </a:solidFill>
              </a:rPr>
              <a:t>במצגת עדיף </a:t>
            </a:r>
            <a:r>
              <a:rPr lang="he-IL" sz="1200" b="1" dirty="0">
                <a:solidFill>
                  <a:srgbClr val="FF0000"/>
                </a:solidFill>
              </a:rPr>
              <a:t>תרשים אופקי</a:t>
            </a:r>
            <a:r>
              <a:rPr lang="he-IL" sz="1200" dirty="0">
                <a:solidFill>
                  <a:srgbClr val="FF0000"/>
                </a:solidFill>
              </a:rPr>
              <a:t>.</a:t>
            </a:r>
            <a:br>
              <a:rPr lang="en-US" sz="1200" dirty="0">
                <a:solidFill>
                  <a:srgbClr val="FF0000"/>
                </a:solidFill>
              </a:rPr>
            </a:br>
            <a:r>
              <a:rPr lang="en-US" sz="1400" dirty="0">
                <a:solidFill>
                  <a:srgbClr val="FF0000"/>
                </a:solidFill>
              </a:rPr>
              <a:t>Original Image</a:t>
            </a:r>
            <a:br>
              <a:rPr lang="en-US" sz="1400" dirty="0">
                <a:solidFill>
                  <a:srgbClr val="FF0000"/>
                </a:solidFill>
              </a:rPr>
            </a:br>
            <a:r>
              <a:rPr lang="en-US" sz="1400" dirty="0">
                <a:solidFill>
                  <a:srgbClr val="FF0000"/>
                </a:solidFill>
              </a:rPr>
              <a:t>      ↓</a:t>
            </a:r>
            <a:br>
              <a:rPr lang="en-US" sz="1400" dirty="0">
                <a:solidFill>
                  <a:srgbClr val="FF0000"/>
                </a:solidFill>
              </a:rPr>
            </a:br>
            <a:r>
              <a:rPr lang="en-US" sz="1400" dirty="0">
                <a:solidFill>
                  <a:srgbClr val="FF0000"/>
                </a:solidFill>
              </a:rPr>
              <a:t>Image Degradation</a:t>
            </a:r>
            <a:br>
              <a:rPr lang="en-US" sz="1400" dirty="0">
                <a:solidFill>
                  <a:srgbClr val="FF0000"/>
                </a:solidFill>
              </a:rPr>
            </a:br>
            <a:r>
              <a:rPr lang="en-US" sz="1400" dirty="0">
                <a:solidFill>
                  <a:srgbClr val="FF0000"/>
                </a:solidFill>
              </a:rPr>
              <a:t>(simulated THz conditions)</a:t>
            </a:r>
            <a:br>
              <a:rPr lang="en-US" sz="1400" dirty="0">
                <a:solidFill>
                  <a:srgbClr val="FF0000"/>
                </a:solidFill>
              </a:rPr>
            </a:br>
            <a:r>
              <a:rPr lang="en-US" sz="1400" dirty="0">
                <a:solidFill>
                  <a:srgbClr val="FF0000"/>
                </a:solidFill>
              </a:rPr>
              <a:t>      ↓</a:t>
            </a:r>
            <a:br>
              <a:rPr lang="en-US" sz="1400" dirty="0">
                <a:solidFill>
                  <a:srgbClr val="FF0000"/>
                </a:solidFill>
              </a:rPr>
            </a:br>
            <a:r>
              <a:rPr lang="en-US" sz="1400" dirty="0" err="1">
                <a:solidFill>
                  <a:srgbClr val="FF0000"/>
                </a:solidFill>
              </a:rPr>
              <a:t>Upsampling</a:t>
            </a:r>
            <a:br>
              <a:rPr lang="en-US" sz="1400" dirty="0">
                <a:solidFill>
                  <a:srgbClr val="FF0000"/>
                </a:solidFill>
              </a:rPr>
            </a:br>
            <a:r>
              <a:rPr lang="en-US" sz="1400" dirty="0">
                <a:solidFill>
                  <a:srgbClr val="FF0000"/>
                </a:solidFill>
              </a:rPr>
              <a:t>      ↓</a:t>
            </a:r>
            <a:br>
              <a:rPr lang="en-US" sz="1400" dirty="0">
                <a:solidFill>
                  <a:srgbClr val="FF0000"/>
                </a:solidFill>
              </a:rPr>
            </a:br>
            <a:r>
              <a:rPr lang="en-US" sz="1400" dirty="0">
                <a:solidFill>
                  <a:srgbClr val="FF0000"/>
                </a:solidFill>
              </a:rPr>
              <a:t>ImageNet Normalization</a:t>
            </a:r>
            <a:br>
              <a:rPr lang="en-US" sz="1400" dirty="0">
                <a:solidFill>
                  <a:srgbClr val="FF0000"/>
                </a:solidFill>
              </a:rPr>
            </a:br>
            <a:r>
              <a:rPr lang="en-US" sz="1400" dirty="0">
                <a:solidFill>
                  <a:srgbClr val="FF0000"/>
                </a:solidFill>
              </a:rPr>
              <a:t>      ↓</a:t>
            </a:r>
            <a:br>
              <a:rPr lang="en-US" sz="1400" dirty="0">
                <a:solidFill>
                  <a:srgbClr val="FF0000"/>
                </a:solidFill>
              </a:rPr>
            </a:br>
            <a:r>
              <a:rPr lang="en-US" sz="1400" dirty="0">
                <a:solidFill>
                  <a:srgbClr val="FF0000"/>
                </a:solidFill>
              </a:rPr>
              <a:t>Deep Learning Model</a:t>
            </a:r>
            <a:br>
              <a:rPr lang="en-US" sz="1400" dirty="0">
                <a:solidFill>
                  <a:srgbClr val="FF0000"/>
                </a:solidFill>
              </a:rPr>
            </a:br>
            <a:r>
              <a:rPr lang="en-US" sz="1400" dirty="0">
                <a:solidFill>
                  <a:srgbClr val="FF0000"/>
                </a:solidFill>
              </a:rPr>
              <a:t>(</a:t>
            </a:r>
            <a:r>
              <a:rPr lang="en-US" sz="1400" dirty="0" err="1">
                <a:solidFill>
                  <a:srgbClr val="FF0000"/>
                </a:solidFill>
              </a:rPr>
              <a:t>ResNet</a:t>
            </a:r>
            <a:r>
              <a:rPr lang="en-US" sz="1400" dirty="0">
                <a:solidFill>
                  <a:srgbClr val="FF0000"/>
                </a:solidFill>
              </a:rPr>
              <a:t> / </a:t>
            </a:r>
            <a:r>
              <a:rPr lang="en-US" sz="1400" dirty="0" err="1">
                <a:solidFill>
                  <a:srgbClr val="FF0000"/>
                </a:solidFill>
              </a:rPr>
              <a:t>DenseNet</a:t>
            </a:r>
            <a:r>
              <a:rPr lang="en-US" sz="1400" dirty="0">
                <a:solidFill>
                  <a:srgbClr val="FF0000"/>
                </a:solidFill>
              </a:rPr>
              <a:t> / </a:t>
            </a:r>
            <a:r>
              <a:rPr lang="en-US" sz="1400" dirty="0" err="1">
                <a:solidFill>
                  <a:srgbClr val="FF0000"/>
                </a:solidFill>
              </a:rPr>
              <a:t>TransNeXt</a:t>
            </a:r>
            <a:r>
              <a:rPr lang="en-US" sz="1400" dirty="0">
                <a:solidFill>
                  <a:srgbClr val="FF0000"/>
                </a:solidFill>
              </a:rPr>
              <a:t>)</a:t>
            </a:r>
            <a:br>
              <a:rPr lang="en-US" sz="1400" dirty="0">
                <a:solidFill>
                  <a:srgbClr val="FF0000"/>
                </a:solidFill>
              </a:rPr>
            </a:br>
            <a:r>
              <a:rPr lang="en-US" sz="1400" dirty="0">
                <a:solidFill>
                  <a:srgbClr val="FF0000"/>
                </a:solidFill>
              </a:rPr>
              <a:t>      ↓</a:t>
            </a:r>
            <a:br>
              <a:rPr lang="en-US" sz="1400" dirty="0">
                <a:solidFill>
                  <a:srgbClr val="FF0000"/>
                </a:solidFill>
              </a:rPr>
            </a:br>
            <a:r>
              <a:rPr lang="en-US" sz="1400" dirty="0">
                <a:solidFill>
                  <a:srgbClr val="FF0000"/>
                </a:solidFill>
              </a:rPr>
              <a:t>Classification Output</a:t>
            </a:r>
          </a:p>
          <a:p>
            <a:pPr algn="r"/>
            <a:r>
              <a:rPr lang="he-IL" sz="1200" dirty="0">
                <a:solidFill>
                  <a:srgbClr val="FF0000"/>
                </a:solidFill>
              </a:rPr>
              <a:t>ב-</a:t>
            </a:r>
            <a:r>
              <a:rPr lang="en-US" sz="1200" dirty="0">
                <a:solidFill>
                  <a:srgbClr val="FF0000"/>
                </a:solidFill>
              </a:rPr>
              <a:t>PowerPoint </a:t>
            </a:r>
            <a:r>
              <a:rPr lang="he-IL" sz="1200" dirty="0">
                <a:solidFill>
                  <a:srgbClr val="FF0000"/>
                </a:solidFill>
              </a:rPr>
              <a:t>כדאי להציג את זה כ-</a:t>
            </a:r>
            <a:r>
              <a:rPr lang="en-US" sz="1200" dirty="0">
                <a:solidFill>
                  <a:srgbClr val="FF0000"/>
                </a:solidFill>
              </a:rPr>
              <a:t>boxes </a:t>
            </a:r>
            <a:r>
              <a:rPr lang="he-IL" sz="1200" dirty="0">
                <a:solidFill>
                  <a:srgbClr val="FF0000"/>
                </a:solidFill>
              </a:rPr>
              <a:t>מחוברים </a:t>
            </a:r>
            <a:r>
              <a:rPr lang="he-IL" sz="1200" dirty="0" err="1">
                <a:solidFill>
                  <a:srgbClr val="FF0000"/>
                </a:solidFill>
              </a:rPr>
              <a:t>בחצים</a:t>
            </a:r>
            <a:r>
              <a:rPr lang="he-IL" sz="1200" dirty="0">
                <a:solidFill>
                  <a:srgbClr val="FF0000"/>
                </a:solidFill>
              </a:rPr>
              <a:t>.</a:t>
            </a:r>
          </a:p>
          <a:p>
            <a:pPr algn="r"/>
            <a:br>
              <a:rPr lang="he-IL" sz="1200" dirty="0">
                <a:solidFill>
                  <a:srgbClr val="FF0000"/>
                </a:solidFill>
              </a:rPr>
            </a:br>
            <a:r>
              <a:rPr lang="he-IL" sz="1200" b="1" dirty="0">
                <a:solidFill>
                  <a:srgbClr val="FF0000"/>
                </a:solidFill>
              </a:rPr>
              <a:t>גרסה ויזואלית מומלצת לשקופית</a:t>
            </a:r>
          </a:p>
          <a:p>
            <a:pPr algn="r" rtl="0"/>
            <a:r>
              <a:rPr lang="en-US" sz="1400" dirty="0">
                <a:solidFill>
                  <a:srgbClr val="FF0000"/>
                </a:solidFill>
              </a:rPr>
              <a:t>Original Image</a:t>
            </a:r>
            <a:br>
              <a:rPr lang="en-US" sz="1400" dirty="0">
                <a:solidFill>
                  <a:srgbClr val="FF0000"/>
                </a:solidFill>
              </a:rPr>
            </a:br>
            <a:r>
              <a:rPr lang="en-US" sz="1400" dirty="0">
                <a:solidFill>
                  <a:srgbClr val="FF0000"/>
                </a:solidFill>
              </a:rPr>
              <a:t>      ↓</a:t>
            </a:r>
            <a:br>
              <a:rPr lang="en-US" sz="1400" dirty="0">
                <a:solidFill>
                  <a:srgbClr val="FF0000"/>
                </a:solidFill>
              </a:rPr>
            </a:br>
            <a:r>
              <a:rPr lang="en-US" sz="1400" dirty="0">
                <a:solidFill>
                  <a:srgbClr val="FF0000"/>
                </a:solidFill>
              </a:rPr>
              <a:t>Degradation</a:t>
            </a:r>
            <a:br>
              <a:rPr lang="en-US" sz="1400" dirty="0">
                <a:solidFill>
                  <a:srgbClr val="FF0000"/>
                </a:solidFill>
              </a:rPr>
            </a:br>
            <a:r>
              <a:rPr lang="en-US" sz="1400" dirty="0">
                <a:solidFill>
                  <a:srgbClr val="FF0000"/>
                </a:solidFill>
              </a:rPr>
              <a:t>↓ resolution + noise + blur</a:t>
            </a:r>
            <a:br>
              <a:rPr lang="en-US" sz="1400" dirty="0">
                <a:solidFill>
                  <a:srgbClr val="FF0000"/>
                </a:solidFill>
              </a:rPr>
            </a:br>
            <a:r>
              <a:rPr lang="en-US" sz="1400" dirty="0">
                <a:solidFill>
                  <a:srgbClr val="FF0000"/>
                </a:solidFill>
              </a:rPr>
              <a:t>      ↓</a:t>
            </a:r>
            <a:br>
              <a:rPr lang="en-US" sz="1400" dirty="0">
                <a:solidFill>
                  <a:srgbClr val="FF0000"/>
                </a:solidFill>
              </a:rPr>
            </a:br>
            <a:r>
              <a:rPr lang="en-US" sz="1400" dirty="0" err="1">
                <a:solidFill>
                  <a:srgbClr val="FF0000"/>
                </a:solidFill>
              </a:rPr>
              <a:t>Upsample</a:t>
            </a:r>
            <a:br>
              <a:rPr lang="en-US" sz="1400" dirty="0">
                <a:solidFill>
                  <a:srgbClr val="FF0000"/>
                </a:solidFill>
              </a:rPr>
            </a:br>
            <a:r>
              <a:rPr lang="en-US" sz="1400" dirty="0">
                <a:solidFill>
                  <a:srgbClr val="FF0000"/>
                </a:solidFill>
              </a:rPr>
              <a:t>to network input size</a:t>
            </a:r>
            <a:br>
              <a:rPr lang="en-US" sz="1400" dirty="0">
                <a:solidFill>
                  <a:srgbClr val="FF0000"/>
                </a:solidFill>
              </a:rPr>
            </a:br>
            <a:r>
              <a:rPr lang="en-US" sz="1400" dirty="0">
                <a:solidFill>
                  <a:srgbClr val="FF0000"/>
                </a:solidFill>
              </a:rPr>
              <a:t>      ↓</a:t>
            </a:r>
            <a:br>
              <a:rPr lang="en-US" sz="1400" dirty="0">
                <a:solidFill>
                  <a:srgbClr val="FF0000"/>
                </a:solidFill>
              </a:rPr>
            </a:br>
            <a:r>
              <a:rPr lang="en-US" sz="1400" dirty="0">
                <a:solidFill>
                  <a:srgbClr val="FF0000"/>
                </a:solidFill>
              </a:rPr>
              <a:t>ImageNet Normalization</a:t>
            </a:r>
            <a:br>
              <a:rPr lang="en-US" sz="1400" dirty="0">
                <a:solidFill>
                  <a:srgbClr val="FF0000"/>
                </a:solidFill>
              </a:rPr>
            </a:br>
            <a:r>
              <a:rPr lang="en-US" sz="1400" dirty="0">
                <a:solidFill>
                  <a:srgbClr val="FF0000"/>
                </a:solidFill>
              </a:rPr>
              <a:t>      ↓</a:t>
            </a:r>
            <a:br>
              <a:rPr lang="en-US" sz="1400" dirty="0">
                <a:solidFill>
                  <a:srgbClr val="FF0000"/>
                </a:solidFill>
              </a:rPr>
            </a:br>
            <a:r>
              <a:rPr lang="en-US" sz="1400" dirty="0">
                <a:solidFill>
                  <a:srgbClr val="FF0000"/>
                </a:solidFill>
              </a:rPr>
              <a:t>Model</a:t>
            </a:r>
            <a:br>
              <a:rPr lang="en-US" sz="1400" dirty="0">
                <a:solidFill>
                  <a:srgbClr val="FF0000"/>
                </a:solidFill>
              </a:rPr>
            </a:br>
            <a:r>
              <a:rPr lang="en-US" sz="1400" dirty="0" err="1">
                <a:solidFill>
                  <a:srgbClr val="FF0000"/>
                </a:solidFill>
              </a:rPr>
              <a:t>ResNet</a:t>
            </a:r>
            <a:r>
              <a:rPr lang="en-US" sz="1400" dirty="0">
                <a:solidFill>
                  <a:srgbClr val="FF0000"/>
                </a:solidFill>
              </a:rPr>
              <a:t> / </a:t>
            </a:r>
            <a:r>
              <a:rPr lang="en-US" sz="1400" dirty="0" err="1">
                <a:solidFill>
                  <a:srgbClr val="FF0000"/>
                </a:solidFill>
              </a:rPr>
              <a:t>DenseNet</a:t>
            </a:r>
            <a:r>
              <a:rPr lang="en-US" sz="1400" dirty="0">
                <a:solidFill>
                  <a:srgbClr val="FF0000"/>
                </a:solidFill>
              </a:rPr>
              <a:t> / </a:t>
            </a:r>
            <a:r>
              <a:rPr lang="en-US" sz="1400" dirty="0" err="1">
                <a:solidFill>
                  <a:srgbClr val="FF0000"/>
                </a:solidFill>
              </a:rPr>
              <a:t>TransNeXt</a:t>
            </a:r>
            <a:br>
              <a:rPr lang="en-US" sz="1400" dirty="0">
                <a:solidFill>
                  <a:srgbClr val="FF0000"/>
                </a:solidFill>
              </a:rPr>
            </a:br>
            <a:r>
              <a:rPr lang="en-US" sz="1400" dirty="0">
                <a:solidFill>
                  <a:srgbClr val="FF0000"/>
                </a:solidFill>
              </a:rPr>
              <a:t>      ↓</a:t>
            </a:r>
            <a:br>
              <a:rPr lang="en-US" sz="1400" dirty="0">
                <a:solidFill>
                  <a:srgbClr val="FF0000"/>
                </a:solidFill>
              </a:rPr>
            </a:br>
            <a:r>
              <a:rPr lang="en-US" sz="1400" dirty="0">
                <a:solidFill>
                  <a:srgbClr val="FF0000"/>
                </a:solidFill>
              </a:rPr>
              <a:t>Predicted Class</a:t>
            </a:r>
          </a:p>
          <a:p>
            <a:pPr algn="r"/>
            <a:br>
              <a:rPr lang="en-US" sz="1200" dirty="0">
                <a:solidFill>
                  <a:srgbClr val="FF0000"/>
                </a:solidFill>
              </a:rPr>
            </a:br>
            <a:endParaRPr lang="en-US" sz="1200" dirty="0">
              <a:solidFill>
                <a:srgbClr val="FF0000"/>
              </a:solidFill>
            </a:endParaRPr>
          </a:p>
        </p:txBody>
      </p:sp>
      <p:sp>
        <p:nvSpPr>
          <p:cNvPr id="2" name="כותרת משנה 6">
            <a:extLst>
              <a:ext uri="{FF2B5EF4-FFF2-40B4-BE49-F238E27FC236}">
                <a16:creationId xmlns:a16="http://schemas.microsoft.com/office/drawing/2014/main" id="{14459744-4579-BBAD-885C-02C35FEA93D0}"/>
              </a:ext>
            </a:extLst>
          </p:cNvPr>
          <p:cNvSpPr txBox="1">
            <a:spLocks/>
          </p:cNvSpPr>
          <p:nvPr/>
        </p:nvSpPr>
        <p:spPr>
          <a:xfrm>
            <a:off x="2255520" y="1636776"/>
            <a:ext cx="3529584" cy="4197096"/>
          </a:xfrm>
          <a:prstGeom prst="rect">
            <a:avLst/>
          </a:prstGeom>
        </p:spPr>
        <p:txBody>
          <a:bodyPr vert="horz" lIns="91440" tIns="45720" rIns="91440" bIns="45720" rtlCol="1">
            <a:normAutofit fontScale="85000" lnSpcReduction="20000"/>
          </a:bodyPr>
          <a:lstStyle>
            <a:lvl1pPr marL="0" indent="0" algn="ct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he-IL" sz="2000" b="1" dirty="0">
                <a:solidFill>
                  <a:srgbClr val="FF0000"/>
                </a:solidFill>
              </a:rPr>
              <a:t>טיפ חשוב למצגת</a:t>
            </a:r>
          </a:p>
          <a:p>
            <a:pPr algn="r"/>
            <a:r>
              <a:rPr lang="he-IL" sz="2000" dirty="0">
                <a:solidFill>
                  <a:srgbClr val="FF0000"/>
                </a:solidFill>
              </a:rPr>
              <a:t>אם יש מקום — שים </a:t>
            </a:r>
            <a:r>
              <a:rPr lang="he-IL" sz="2000" b="1" dirty="0">
                <a:solidFill>
                  <a:srgbClr val="FF0000"/>
                </a:solidFill>
              </a:rPr>
              <a:t>אייקון קטן או תמונה קטנה</a:t>
            </a:r>
            <a:r>
              <a:rPr lang="he-IL" sz="2000" dirty="0">
                <a:solidFill>
                  <a:srgbClr val="FF0000"/>
                </a:solidFill>
              </a:rPr>
              <a:t> בכל שלב:</a:t>
            </a:r>
          </a:p>
          <a:p>
            <a:pPr algn="r"/>
            <a:r>
              <a:rPr lang="he-IL" sz="2000" dirty="0">
                <a:solidFill>
                  <a:srgbClr val="FF0000"/>
                </a:solidFill>
              </a:rPr>
              <a:t>תמונה → </a:t>
            </a:r>
            <a:r>
              <a:rPr lang="en-US" sz="2000" dirty="0">
                <a:solidFill>
                  <a:srgbClr val="FF0000"/>
                </a:solidFill>
              </a:rPr>
              <a:t>image icon</a:t>
            </a:r>
          </a:p>
          <a:p>
            <a:pPr algn="r"/>
            <a:r>
              <a:rPr lang="en-US" sz="2000" dirty="0">
                <a:solidFill>
                  <a:srgbClr val="FF0000"/>
                </a:solidFill>
              </a:rPr>
              <a:t>degradation → blur/noise image</a:t>
            </a:r>
          </a:p>
          <a:p>
            <a:pPr algn="r"/>
            <a:r>
              <a:rPr lang="en-US" sz="2000" dirty="0">
                <a:solidFill>
                  <a:srgbClr val="FF0000"/>
                </a:solidFill>
              </a:rPr>
              <a:t>model → neural network icon</a:t>
            </a:r>
          </a:p>
          <a:p>
            <a:pPr algn="r"/>
            <a:r>
              <a:rPr lang="en-US" sz="2000" dirty="0">
                <a:solidFill>
                  <a:srgbClr val="FF0000"/>
                </a:solidFill>
              </a:rPr>
              <a:t>output → label</a:t>
            </a:r>
          </a:p>
          <a:p>
            <a:pPr algn="r"/>
            <a:r>
              <a:rPr lang="he-IL" sz="2000" dirty="0">
                <a:solidFill>
                  <a:srgbClr val="FF0000"/>
                </a:solidFill>
              </a:rPr>
              <a:t>זה גורם לשקופית להיראות הרבה יותר מקצועית.</a:t>
            </a:r>
          </a:p>
          <a:p>
            <a:pPr algn="r"/>
            <a:br>
              <a:rPr lang="he-IL" sz="2000" dirty="0">
                <a:solidFill>
                  <a:srgbClr val="FF0000"/>
                </a:solidFill>
              </a:rPr>
            </a:br>
            <a:endParaRPr lang="he-IL" sz="2000" dirty="0">
              <a:solidFill>
                <a:srgbClr val="FF0000"/>
              </a:solidFill>
            </a:endParaRPr>
          </a:p>
          <a:p>
            <a:pPr algn="r"/>
            <a:r>
              <a:rPr lang="he-IL" sz="2000" b="1" dirty="0">
                <a:solidFill>
                  <a:srgbClr val="FF0000"/>
                </a:solidFill>
              </a:rPr>
              <a:t>משהו קטן שכדאי להוסיף מתחת לתרשים</a:t>
            </a:r>
          </a:p>
          <a:p>
            <a:pPr algn="r"/>
            <a:r>
              <a:rPr lang="he-IL" sz="2000" dirty="0">
                <a:solidFill>
                  <a:srgbClr val="FF0000"/>
                </a:solidFill>
              </a:rPr>
              <a:t>שורה קצרה:</a:t>
            </a:r>
          </a:p>
          <a:p>
            <a:pPr algn="r" rtl="0"/>
            <a:r>
              <a:rPr lang="en-US" sz="2000" dirty="0">
                <a:solidFill>
                  <a:srgbClr val="FF0000"/>
                </a:solidFill>
              </a:rPr>
              <a:t>Pipeline used in all experiments</a:t>
            </a:r>
          </a:p>
        </p:txBody>
      </p:sp>
    </p:spTree>
    <p:extLst>
      <p:ext uri="{BB962C8B-B14F-4D97-AF65-F5344CB8AC3E}">
        <p14:creationId xmlns:p14="http://schemas.microsoft.com/office/powerpoint/2010/main" val="40911883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6CA5D5-8414-9E93-2941-F664118909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כותרת משנה 6">
            <a:extLst>
              <a:ext uri="{FF2B5EF4-FFF2-40B4-BE49-F238E27FC236}">
                <a16:creationId xmlns:a16="http://schemas.microsoft.com/office/drawing/2014/main" id="{82A15344-9F17-8B5E-9377-C7B90C7F09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06880" y="658368"/>
            <a:ext cx="9144000" cy="978408"/>
          </a:xfrm>
        </p:spPr>
        <p:txBody>
          <a:bodyPr/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Models Evaluated</a:t>
            </a:r>
            <a:endParaRPr lang="he-IL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כותרת משנה 6">
            <a:extLst>
              <a:ext uri="{FF2B5EF4-FFF2-40B4-BE49-F238E27FC236}">
                <a16:creationId xmlns:a16="http://schemas.microsoft.com/office/drawing/2014/main" id="{12280332-5B42-5802-9128-24DC1EF5A227}"/>
              </a:ext>
            </a:extLst>
          </p:cNvPr>
          <p:cNvSpPr txBox="1">
            <a:spLocks/>
          </p:cNvSpPr>
          <p:nvPr/>
        </p:nvSpPr>
        <p:spPr>
          <a:xfrm>
            <a:off x="1268730" y="1947672"/>
            <a:ext cx="4895088" cy="4553712"/>
          </a:xfrm>
          <a:prstGeom prst="rect">
            <a:avLst/>
          </a:prstGeom>
        </p:spPr>
        <p:txBody>
          <a:bodyPr vert="horz" lIns="91440" tIns="45720" rIns="91440" bIns="45720" rtlCol="1">
            <a:normAutofit/>
          </a:bodyPr>
          <a:lstStyle>
            <a:lvl1pPr marL="0" indent="0" algn="ct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Baseline CNN architectures:</a:t>
            </a:r>
          </a:p>
          <a:p>
            <a:pPr algn="l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ResNet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DenseNet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Advanced architecture:</a:t>
            </a:r>
          </a:p>
          <a:p>
            <a:pPr algn="l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TransNeXt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(Vision Transformer based)</a:t>
            </a:r>
          </a:p>
          <a:p>
            <a:pPr algn="l"/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All models use ImageNet pretrained weights</a:t>
            </a:r>
            <a:endParaRPr lang="he-IL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כותרת משנה 6">
            <a:extLst>
              <a:ext uri="{FF2B5EF4-FFF2-40B4-BE49-F238E27FC236}">
                <a16:creationId xmlns:a16="http://schemas.microsoft.com/office/drawing/2014/main" id="{4DB7B054-0311-15AD-3326-C794484F2D48}"/>
              </a:ext>
            </a:extLst>
          </p:cNvPr>
          <p:cNvSpPr txBox="1">
            <a:spLocks/>
          </p:cNvSpPr>
          <p:nvPr/>
        </p:nvSpPr>
        <p:spPr>
          <a:xfrm>
            <a:off x="6504432" y="1837944"/>
            <a:ext cx="3745992" cy="1380744"/>
          </a:xfrm>
          <a:prstGeom prst="rect">
            <a:avLst/>
          </a:prstGeom>
        </p:spPr>
        <p:txBody>
          <a:bodyPr vert="horz" lIns="91440" tIns="45720" rIns="91440" bIns="45720" rtlCol="1">
            <a:normAutofit/>
          </a:bodyPr>
          <a:lstStyle>
            <a:lvl1pPr marL="0" indent="0" algn="ct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he-IL" altLang="he-IL" sz="2000" dirty="0" err="1">
                <a:solidFill>
                  <a:srgbClr val="C00000"/>
                </a:solidFill>
                <a:latin typeface="Arial" panose="020B0604020202020204" pitchFamily="34" charset="0"/>
              </a:rPr>
              <a:t>ResNet</a:t>
            </a:r>
            <a:r>
              <a:rPr lang="he-IL" altLang="he-IL" sz="2000" dirty="0">
                <a:solidFill>
                  <a:srgbClr val="C00000"/>
                </a:solidFill>
                <a:latin typeface="Arial" panose="020B0604020202020204" pitchFamily="34" charset="0"/>
              </a:rPr>
              <a:t> </a:t>
            </a:r>
            <a:r>
              <a:rPr lang="he-IL" altLang="he-IL" sz="2000" dirty="0" err="1">
                <a:solidFill>
                  <a:srgbClr val="C00000"/>
                </a:solidFill>
                <a:latin typeface="Arial" panose="020B0604020202020204" pitchFamily="34" charset="0"/>
              </a:rPr>
              <a:t>block</a:t>
            </a:r>
            <a:endParaRPr lang="he-IL" altLang="he-IL" sz="2000" dirty="0">
              <a:solidFill>
                <a:srgbClr val="C00000"/>
              </a:solidFill>
              <a:latin typeface="Arial" panose="020B0604020202020204" pitchFamily="34" charset="0"/>
            </a:endParaRPr>
          </a:p>
          <a:p>
            <a:pPr lvl="0"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he-IL" altLang="he-IL" sz="2000" dirty="0" err="1">
                <a:solidFill>
                  <a:srgbClr val="C00000"/>
                </a:solidFill>
                <a:latin typeface="Arial" panose="020B0604020202020204" pitchFamily="34" charset="0"/>
              </a:rPr>
              <a:t>DenseNet</a:t>
            </a:r>
            <a:r>
              <a:rPr lang="he-IL" altLang="he-IL" sz="2000" dirty="0">
                <a:solidFill>
                  <a:srgbClr val="C00000"/>
                </a:solidFill>
                <a:latin typeface="Arial" panose="020B0604020202020204" pitchFamily="34" charset="0"/>
              </a:rPr>
              <a:t> </a:t>
            </a:r>
            <a:r>
              <a:rPr lang="he-IL" altLang="he-IL" sz="2000" dirty="0" err="1">
                <a:solidFill>
                  <a:srgbClr val="C00000"/>
                </a:solidFill>
                <a:latin typeface="Arial" panose="020B0604020202020204" pitchFamily="34" charset="0"/>
              </a:rPr>
              <a:t>connections</a:t>
            </a:r>
            <a:endParaRPr lang="he-IL" altLang="he-IL" sz="2000" dirty="0">
              <a:solidFill>
                <a:srgbClr val="C00000"/>
              </a:solidFill>
              <a:latin typeface="Arial" panose="020B0604020202020204" pitchFamily="34" charset="0"/>
            </a:endParaRPr>
          </a:p>
          <a:p>
            <a:pPr lvl="0"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he-IL" altLang="he-IL" sz="2000" dirty="0" err="1">
                <a:solidFill>
                  <a:srgbClr val="C00000"/>
                </a:solidFill>
                <a:latin typeface="Arial" panose="020B0604020202020204" pitchFamily="34" charset="0"/>
              </a:rPr>
              <a:t>Transformer</a:t>
            </a:r>
            <a:r>
              <a:rPr lang="he-IL" altLang="he-IL" sz="2000" dirty="0">
                <a:solidFill>
                  <a:srgbClr val="C00000"/>
                </a:solidFill>
                <a:latin typeface="Arial" panose="020B0604020202020204" pitchFamily="34" charset="0"/>
              </a:rPr>
              <a:t> </a:t>
            </a:r>
            <a:r>
              <a:rPr lang="he-IL" altLang="he-IL" sz="2000" dirty="0" err="1">
                <a:solidFill>
                  <a:srgbClr val="C00000"/>
                </a:solidFill>
                <a:latin typeface="Arial" panose="020B0604020202020204" pitchFamily="34" charset="0"/>
              </a:rPr>
              <a:t>attention</a:t>
            </a:r>
            <a:br>
              <a:rPr lang="en-US" altLang="he-IL" sz="2000" dirty="0">
                <a:solidFill>
                  <a:srgbClr val="C00000"/>
                </a:solidFill>
                <a:latin typeface="Arial" panose="020B0604020202020204" pitchFamily="34" charset="0"/>
              </a:rPr>
            </a:br>
            <a:endParaRPr lang="he-IL" altLang="he-IL" sz="2000" dirty="0">
              <a:solidFill>
                <a:srgbClr val="C00000"/>
              </a:solidFill>
              <a:latin typeface="Arial" panose="020B0604020202020204" pitchFamily="34" charset="0"/>
            </a:endParaRPr>
          </a:p>
        </p:txBody>
      </p:sp>
      <p:sp>
        <p:nvSpPr>
          <p:cNvPr id="13" name="כותרת משנה 6">
            <a:extLst>
              <a:ext uri="{FF2B5EF4-FFF2-40B4-BE49-F238E27FC236}">
                <a16:creationId xmlns:a16="http://schemas.microsoft.com/office/drawing/2014/main" id="{73D11DB0-E8E1-CF1C-250A-390E7FFE2B53}"/>
              </a:ext>
            </a:extLst>
          </p:cNvPr>
          <p:cNvSpPr txBox="1">
            <a:spLocks/>
          </p:cNvSpPr>
          <p:nvPr/>
        </p:nvSpPr>
        <p:spPr>
          <a:xfrm>
            <a:off x="7062216" y="5800344"/>
            <a:ext cx="4418838" cy="637032"/>
          </a:xfrm>
          <a:prstGeom prst="rect">
            <a:avLst/>
          </a:prstGeom>
        </p:spPr>
        <p:txBody>
          <a:bodyPr vert="horz" lIns="91440" tIns="45720" rIns="91440" bIns="45720" rtlCol="1">
            <a:normAutofit/>
          </a:bodyPr>
          <a:lstStyle>
            <a:lvl1pPr marL="0" indent="0" algn="ct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he-IL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Training framework: </a:t>
            </a:r>
            <a:r>
              <a:rPr lang="en-US" altLang="he-IL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PyTorch</a:t>
            </a:r>
            <a:endParaRPr lang="he-IL" altLang="he-IL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863194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BBE8DE-0DDA-9FEB-32CE-EDF8D34424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כותרת משנה 6">
            <a:extLst>
              <a:ext uri="{FF2B5EF4-FFF2-40B4-BE49-F238E27FC236}">
                <a16:creationId xmlns:a16="http://schemas.microsoft.com/office/drawing/2014/main" id="{69D24C73-0253-CADC-2AA4-9762B51984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06880" y="658368"/>
            <a:ext cx="9144000" cy="978408"/>
          </a:xfrm>
        </p:spPr>
        <p:txBody>
          <a:bodyPr/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Experimental Setup</a:t>
            </a:r>
            <a:endParaRPr lang="he-IL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כותרת משנה 6">
            <a:extLst>
              <a:ext uri="{FF2B5EF4-FFF2-40B4-BE49-F238E27FC236}">
                <a16:creationId xmlns:a16="http://schemas.microsoft.com/office/drawing/2014/main" id="{CA7BC624-590D-9A84-4F31-ADD1190AA6E5}"/>
              </a:ext>
            </a:extLst>
          </p:cNvPr>
          <p:cNvSpPr txBox="1">
            <a:spLocks/>
          </p:cNvSpPr>
          <p:nvPr/>
        </p:nvSpPr>
        <p:spPr>
          <a:xfrm>
            <a:off x="1706880" y="1472184"/>
            <a:ext cx="9211056" cy="4663440"/>
          </a:xfrm>
          <a:prstGeom prst="rect">
            <a:avLst/>
          </a:prstGeom>
        </p:spPr>
        <p:txBody>
          <a:bodyPr vert="horz" lIns="91440" tIns="45720" rIns="91440" bIns="45720" rtlCol="1">
            <a:normAutofit fontScale="92500" lnSpcReduction="10000"/>
          </a:bodyPr>
          <a:lstStyle>
            <a:lvl1pPr marL="0" indent="0" algn="ct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Dataset: CIFAR-10</a:t>
            </a:r>
          </a:p>
          <a:p>
            <a:pPr algn="l"/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Training</a:t>
            </a:r>
            <a:r>
              <a:rPr lang="en-US" sz="2000" dirty="0"/>
              <a:t>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Framework: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PyTorch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Models initialized with ImageNet pretrained weights</a:t>
            </a:r>
          </a:p>
          <a:p>
            <a:pPr algn="l"/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 parameters:</a:t>
            </a:r>
          </a:p>
          <a:p>
            <a:pPr algn="l"/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degradation level</a:t>
            </a:r>
          </a:p>
          <a:p>
            <a:pPr algn="l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learning rate</a:t>
            </a:r>
          </a:p>
          <a:p>
            <a:pPr algn="l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batch size</a:t>
            </a:r>
          </a:p>
          <a:p>
            <a:pPr algn="l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backbone freezing (linear probe)</a:t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Experiments are tracked and logged automatically</a:t>
            </a:r>
          </a:p>
          <a:p>
            <a:pPr algn="l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(metrics.csv, logs, checkpoints)</a:t>
            </a:r>
            <a:endParaRPr lang="he-IL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86270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CD643E-4D79-59BC-2E0F-DB0D57DBF6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כותרת משנה 6">
            <a:extLst>
              <a:ext uri="{FF2B5EF4-FFF2-40B4-BE49-F238E27FC236}">
                <a16:creationId xmlns:a16="http://schemas.microsoft.com/office/drawing/2014/main" id="{92E4C109-86CF-42AC-1A96-6F756D2D3E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100072" y="428644"/>
            <a:ext cx="8598408" cy="411480"/>
          </a:xfrm>
        </p:spPr>
        <p:txBody>
          <a:bodyPr>
            <a:normAutofit lnSpcReduction="10000"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Initial Experimental Results</a:t>
            </a:r>
            <a:endParaRPr lang="he-IL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תמונה 4">
            <a:extLst>
              <a:ext uri="{FF2B5EF4-FFF2-40B4-BE49-F238E27FC236}">
                <a16:creationId xmlns:a16="http://schemas.microsoft.com/office/drawing/2014/main" id="{D4835771-5226-C0D5-5C77-A41D5B852C9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87672" y="1026181"/>
            <a:ext cx="7016656" cy="4209994"/>
          </a:xfrm>
          <a:prstGeom prst="rect">
            <a:avLst/>
          </a:prstGeom>
        </p:spPr>
      </p:pic>
      <p:sp>
        <p:nvSpPr>
          <p:cNvPr id="9" name="כותרת משנה 6">
            <a:extLst>
              <a:ext uri="{FF2B5EF4-FFF2-40B4-BE49-F238E27FC236}">
                <a16:creationId xmlns:a16="http://schemas.microsoft.com/office/drawing/2014/main" id="{6777D87D-9347-7968-A530-4CD074433470}"/>
              </a:ext>
            </a:extLst>
          </p:cNvPr>
          <p:cNvSpPr txBox="1">
            <a:spLocks/>
          </p:cNvSpPr>
          <p:nvPr/>
        </p:nvSpPr>
        <p:spPr>
          <a:xfrm>
            <a:off x="1371600" y="5627972"/>
            <a:ext cx="9802368" cy="1019716"/>
          </a:xfrm>
          <a:prstGeom prst="rect">
            <a:avLst/>
          </a:prstGeom>
        </p:spPr>
        <p:txBody>
          <a:bodyPr vert="horz" lIns="91440" tIns="45720" rIns="91440" bIns="45720" rtlCol="1">
            <a:normAutofit/>
          </a:bodyPr>
          <a:lstStyle>
            <a:lvl1pPr marL="0" indent="0" algn="ct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Validation accuracy during training for ResNet50 and DenseNet121 under degradation level 16</a:t>
            </a:r>
          </a:p>
        </p:txBody>
      </p:sp>
    </p:spTree>
    <p:extLst>
      <p:ext uri="{BB962C8B-B14F-4D97-AF65-F5344CB8AC3E}">
        <p14:creationId xmlns:p14="http://schemas.microsoft.com/office/powerpoint/2010/main" val="13631918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2A8F41-DCFF-306E-F976-819EF2967E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כותרת משנה 6">
            <a:extLst>
              <a:ext uri="{FF2B5EF4-FFF2-40B4-BE49-F238E27FC236}">
                <a16:creationId xmlns:a16="http://schemas.microsoft.com/office/drawing/2014/main" id="{A95CCA25-78E4-72D0-7A20-530507B350A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06880" y="658368"/>
            <a:ext cx="9144000" cy="978408"/>
          </a:xfrm>
        </p:spPr>
        <p:txBody>
          <a:bodyPr/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Effect of Image Degradation on Classification Accuracy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he-IL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כותרת משנה 6">
            <a:extLst>
              <a:ext uri="{FF2B5EF4-FFF2-40B4-BE49-F238E27FC236}">
                <a16:creationId xmlns:a16="http://schemas.microsoft.com/office/drawing/2014/main" id="{7F7BB4FF-297D-B2E1-38DC-CB069C379719}"/>
              </a:ext>
            </a:extLst>
          </p:cNvPr>
          <p:cNvSpPr txBox="1">
            <a:spLocks/>
          </p:cNvSpPr>
          <p:nvPr/>
        </p:nvSpPr>
        <p:spPr>
          <a:xfrm>
            <a:off x="1706880" y="1837944"/>
            <a:ext cx="9211056" cy="4242816"/>
          </a:xfrm>
          <a:prstGeom prst="rect">
            <a:avLst/>
          </a:prstGeom>
        </p:spPr>
        <p:txBody>
          <a:bodyPr vert="horz" lIns="91440" tIns="45720" rIns="91440" bIns="45720" rtlCol="1">
            <a:normAutofit/>
          </a:bodyPr>
          <a:lstStyle>
            <a:lvl1pPr marL="0" indent="0" algn="ct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he-IL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תמונה 2">
            <a:extLst>
              <a:ext uri="{FF2B5EF4-FFF2-40B4-BE49-F238E27FC236}">
                <a16:creationId xmlns:a16="http://schemas.microsoft.com/office/drawing/2014/main" id="{712C7A1C-E242-D735-351F-1B7E3087D2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8719" y="1223926"/>
            <a:ext cx="6973065" cy="4183839"/>
          </a:xfrm>
          <a:prstGeom prst="rect">
            <a:avLst/>
          </a:prstGeom>
        </p:spPr>
      </p:pic>
      <p:sp>
        <p:nvSpPr>
          <p:cNvPr id="4" name="כותרת משנה 6">
            <a:extLst>
              <a:ext uri="{FF2B5EF4-FFF2-40B4-BE49-F238E27FC236}">
                <a16:creationId xmlns:a16="http://schemas.microsoft.com/office/drawing/2014/main" id="{0D4BD721-03B1-E9A1-ED8A-0BA8592FA359}"/>
              </a:ext>
            </a:extLst>
          </p:cNvPr>
          <p:cNvSpPr txBox="1">
            <a:spLocks/>
          </p:cNvSpPr>
          <p:nvPr/>
        </p:nvSpPr>
        <p:spPr>
          <a:xfrm>
            <a:off x="1862327" y="5513832"/>
            <a:ext cx="9144000" cy="978408"/>
          </a:xfrm>
          <a:prstGeom prst="rect">
            <a:avLst/>
          </a:prstGeom>
        </p:spPr>
        <p:txBody>
          <a:bodyPr vert="horz" lIns="91440" tIns="45720" rIns="91440" bIns="45720" rtlCol="1">
            <a:normAutofit/>
          </a:bodyPr>
          <a:lstStyle>
            <a:lvl1pPr marL="0" indent="0" algn="ct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Classification accuracy decreases as image resolution becomes lower</a:t>
            </a:r>
          </a:p>
          <a:p>
            <a:endParaRPr lang="he-IL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532894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BDE22A-30DE-8AF9-DD9C-4F5D44D9E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כותרת משנה 6">
            <a:extLst>
              <a:ext uri="{FF2B5EF4-FFF2-40B4-BE49-F238E27FC236}">
                <a16:creationId xmlns:a16="http://schemas.microsoft.com/office/drawing/2014/main" id="{1A121565-93FF-AB35-BD1F-B8506F23C4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06880" y="658368"/>
            <a:ext cx="9144000" cy="978408"/>
          </a:xfrm>
        </p:spPr>
        <p:txBody>
          <a:bodyPr/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Example of Simulated THz Degradation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he-IL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כותרת משנה 6">
            <a:extLst>
              <a:ext uri="{FF2B5EF4-FFF2-40B4-BE49-F238E27FC236}">
                <a16:creationId xmlns:a16="http://schemas.microsoft.com/office/drawing/2014/main" id="{AF345A99-E20E-A9D5-DFC4-F31ABFC1BD46}"/>
              </a:ext>
            </a:extLst>
          </p:cNvPr>
          <p:cNvSpPr txBox="1">
            <a:spLocks/>
          </p:cNvSpPr>
          <p:nvPr/>
        </p:nvSpPr>
        <p:spPr>
          <a:xfrm>
            <a:off x="1706880" y="1837944"/>
            <a:ext cx="9211056" cy="4242816"/>
          </a:xfrm>
          <a:prstGeom prst="rect">
            <a:avLst/>
          </a:prstGeom>
        </p:spPr>
        <p:txBody>
          <a:bodyPr vert="horz" lIns="91440" tIns="45720" rIns="91440" bIns="45720" rtlCol="1">
            <a:normAutofit/>
          </a:bodyPr>
          <a:lstStyle>
            <a:lvl1pPr marL="0" indent="0" algn="ct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he-IL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תמונה 2">
            <a:extLst>
              <a:ext uri="{FF2B5EF4-FFF2-40B4-BE49-F238E27FC236}">
                <a16:creationId xmlns:a16="http://schemas.microsoft.com/office/drawing/2014/main" id="{AA672C83-D6BA-0789-3668-5FA1001A8A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37405" y="1919098"/>
            <a:ext cx="8076443" cy="26921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12491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7B4CA3-E860-BB7B-D49B-E75294681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כותרת משנה 6">
            <a:extLst>
              <a:ext uri="{FF2B5EF4-FFF2-40B4-BE49-F238E27FC236}">
                <a16:creationId xmlns:a16="http://schemas.microsoft.com/office/drawing/2014/main" id="{106C01EE-1D80-BEE4-D6AB-5EB0C2ADA5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06880" y="658368"/>
            <a:ext cx="9144000" cy="978408"/>
          </a:xfrm>
        </p:spPr>
        <p:txBody>
          <a:bodyPr/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Discussion and Preliminary Insights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he-IL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כותרת משנה 6">
            <a:extLst>
              <a:ext uri="{FF2B5EF4-FFF2-40B4-BE49-F238E27FC236}">
                <a16:creationId xmlns:a16="http://schemas.microsoft.com/office/drawing/2014/main" id="{660AA9D2-4332-4A70-7537-FD70A8153450}"/>
              </a:ext>
            </a:extLst>
          </p:cNvPr>
          <p:cNvSpPr txBox="1">
            <a:spLocks/>
          </p:cNvSpPr>
          <p:nvPr/>
        </p:nvSpPr>
        <p:spPr>
          <a:xfrm>
            <a:off x="1706880" y="1837944"/>
            <a:ext cx="9211056" cy="4242816"/>
          </a:xfrm>
          <a:prstGeom prst="rect">
            <a:avLst/>
          </a:prstGeom>
        </p:spPr>
        <p:txBody>
          <a:bodyPr vert="horz" lIns="91440" tIns="45720" rIns="91440" bIns="45720" rtlCol="1">
            <a:normAutofit/>
          </a:bodyPr>
          <a:lstStyle>
            <a:lvl1pPr marL="0" indent="0" algn="ct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• Deep CNN models can still classify degraded images</a:t>
            </a:r>
          </a:p>
          <a:p>
            <a:pPr algn="l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• Performance decreases as degradation becomes stronger</a:t>
            </a:r>
          </a:p>
          <a:p>
            <a:pPr algn="l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• ResNet50 slightly outperforms DenseNet121</a:t>
            </a:r>
          </a:p>
          <a:p>
            <a:pPr algn="l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• Image degradation significantly reduces visual information</a:t>
            </a:r>
            <a:endParaRPr lang="he-IL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518656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371D91-4549-E9B1-7842-E34881B1F8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כותרת משנה 6">
            <a:extLst>
              <a:ext uri="{FF2B5EF4-FFF2-40B4-BE49-F238E27FC236}">
                <a16:creationId xmlns:a16="http://schemas.microsoft.com/office/drawing/2014/main" id="{667DC347-ED0B-A01C-84E0-8A288F2364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06880" y="658368"/>
            <a:ext cx="9083040" cy="621792"/>
          </a:xfrm>
        </p:spPr>
        <p:txBody>
          <a:bodyPr/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Current Project Progress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he-IL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כותרת משנה 6">
            <a:extLst>
              <a:ext uri="{FF2B5EF4-FFF2-40B4-BE49-F238E27FC236}">
                <a16:creationId xmlns:a16="http://schemas.microsoft.com/office/drawing/2014/main" id="{830F60D1-685F-B65B-5D8A-D8253E96694A}"/>
              </a:ext>
            </a:extLst>
          </p:cNvPr>
          <p:cNvSpPr txBox="1">
            <a:spLocks/>
          </p:cNvSpPr>
          <p:nvPr/>
        </p:nvSpPr>
        <p:spPr>
          <a:xfrm>
            <a:off x="1706880" y="1837944"/>
            <a:ext cx="9211056" cy="4242816"/>
          </a:xfrm>
          <a:prstGeom prst="rect">
            <a:avLst/>
          </a:prstGeom>
        </p:spPr>
        <p:txBody>
          <a:bodyPr vert="horz" lIns="91440" tIns="45720" rIns="91440" bIns="45720" rtlCol="1">
            <a:normAutofit/>
          </a:bodyPr>
          <a:lstStyle>
            <a:lvl1pPr marL="0" indent="0" algn="ct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• CIFAR-10 dataset integrated into the pipeline</a:t>
            </a:r>
          </a:p>
          <a:p>
            <a:pPr algn="l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• Image degradation simulation implemented</a:t>
            </a:r>
          </a:p>
          <a:p>
            <a:pPr algn="l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• Training framework implemented in PyTorch</a:t>
            </a:r>
          </a:p>
          <a:p>
            <a:pPr algn="l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• Experiments conducted with ResNet50 and DenseNet121</a:t>
            </a:r>
          </a:p>
          <a:p>
            <a:pPr algn="l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• Automatic experiment logging and result tracking</a:t>
            </a:r>
            <a:endParaRPr lang="he-IL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838233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1B3EBE-2BF2-88F1-595F-5CB7548ABF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כותרת משנה 6">
            <a:extLst>
              <a:ext uri="{FF2B5EF4-FFF2-40B4-BE49-F238E27FC236}">
                <a16:creationId xmlns:a16="http://schemas.microsoft.com/office/drawing/2014/main" id="{00A73E7E-42AC-7D67-E5C9-D82599C767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06880" y="658368"/>
            <a:ext cx="9147048" cy="630936"/>
          </a:xfrm>
        </p:spPr>
        <p:txBody>
          <a:bodyPr/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Future Work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he-IL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כותרת משנה 6">
            <a:extLst>
              <a:ext uri="{FF2B5EF4-FFF2-40B4-BE49-F238E27FC236}">
                <a16:creationId xmlns:a16="http://schemas.microsoft.com/office/drawing/2014/main" id="{00B55ACF-5067-BCCB-9758-E2A0D2F6CE12}"/>
              </a:ext>
            </a:extLst>
          </p:cNvPr>
          <p:cNvSpPr txBox="1">
            <a:spLocks/>
          </p:cNvSpPr>
          <p:nvPr/>
        </p:nvSpPr>
        <p:spPr>
          <a:xfrm>
            <a:off x="1706880" y="1837944"/>
            <a:ext cx="9211056" cy="4242816"/>
          </a:xfrm>
          <a:prstGeom prst="rect">
            <a:avLst/>
          </a:prstGeom>
        </p:spPr>
        <p:txBody>
          <a:bodyPr vert="horz" lIns="91440" tIns="45720" rIns="91440" bIns="45720" rtlCol="1">
            <a:normAutofit/>
          </a:bodyPr>
          <a:lstStyle>
            <a:lvl1pPr marL="0" indent="0" algn="ct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• Additional experiments with the TransNeXt architecture</a:t>
            </a:r>
          </a:p>
          <a:p>
            <a:pPr algn="l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• Training with additional degradation levels</a:t>
            </a:r>
          </a:p>
          <a:p>
            <a:pPr algn="l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• Experiments on additional datasets (e.g., MNIST)</a:t>
            </a:r>
          </a:p>
          <a:p>
            <a:pPr algn="l"/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• Hyperparameter tuning and model optimization</a:t>
            </a:r>
            <a:endParaRPr lang="he-IL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55145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7BD5A5-7DD3-327F-E70B-2F39771536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כותרת משנה 6">
            <a:extLst>
              <a:ext uri="{FF2B5EF4-FFF2-40B4-BE49-F238E27FC236}">
                <a16:creationId xmlns:a16="http://schemas.microsoft.com/office/drawing/2014/main" id="{C9C2C2BF-36E6-54DD-B472-485423339D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06880" y="658368"/>
            <a:ext cx="9144000" cy="978408"/>
          </a:xfrm>
        </p:spPr>
        <p:txBody>
          <a:bodyPr/>
          <a:lstStyle/>
          <a:p>
            <a:endParaRPr lang="he-IL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כותרת משנה 6">
            <a:extLst>
              <a:ext uri="{FF2B5EF4-FFF2-40B4-BE49-F238E27FC236}">
                <a16:creationId xmlns:a16="http://schemas.microsoft.com/office/drawing/2014/main" id="{06AF8AF8-C260-ED8A-9893-826EC699CC11}"/>
              </a:ext>
            </a:extLst>
          </p:cNvPr>
          <p:cNvSpPr txBox="1">
            <a:spLocks/>
          </p:cNvSpPr>
          <p:nvPr/>
        </p:nvSpPr>
        <p:spPr>
          <a:xfrm>
            <a:off x="1706880" y="1837944"/>
            <a:ext cx="9211056" cy="4242816"/>
          </a:xfrm>
          <a:prstGeom prst="rect">
            <a:avLst/>
          </a:prstGeom>
        </p:spPr>
        <p:txBody>
          <a:bodyPr vert="horz" lIns="91440" tIns="45720" rIns="91440" bIns="45720" rtlCol="1">
            <a:normAutofit/>
          </a:bodyPr>
          <a:lstStyle>
            <a:lvl1pPr marL="0" indent="0" algn="ctr" defTabSz="914400" rtl="1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1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he-IL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07182606"/>
      </p:ext>
    </p:extLst>
  </p:cSld>
  <p:clrMapOvr>
    <a:masterClrMapping/>
  </p:clrMapOvr>
</p:sld>
</file>

<file path=ppt/theme/theme1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553</TotalTime>
  <Words>718</Words>
  <Application>Microsoft Office PowerPoint</Application>
  <PresentationFormat>מסך רחב</PresentationFormat>
  <Paragraphs>132</Paragraphs>
  <Slides>16</Slides>
  <Notes>0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7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16</vt:i4>
      </vt:variant>
    </vt:vector>
  </HeadingPairs>
  <TitlesOfParts>
    <vt:vector size="24" baseType="lpstr">
      <vt:lpstr>Aptos</vt:lpstr>
      <vt:lpstr>Aptos Display</vt:lpstr>
      <vt:lpstr>Arial</vt:lpstr>
      <vt:lpstr>Times New Roman</vt:lpstr>
      <vt:lpstr>TimesNewRomanPS-BoldMT</vt:lpstr>
      <vt:lpstr>TimesNewRomanPS-ItalicMT</vt:lpstr>
      <vt:lpstr>TimesNewRomanPSMT</vt:lpstr>
      <vt:lpstr>ערכת נושא Office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איתמר בהט</dc:creator>
  <cp:lastModifiedBy>איתמר בהט</cp:lastModifiedBy>
  <cp:revision>8</cp:revision>
  <dcterms:created xsi:type="dcterms:W3CDTF">2026-03-14T10:32:53Z</dcterms:created>
  <dcterms:modified xsi:type="dcterms:W3CDTF">2026-03-14T19:46:16Z</dcterms:modified>
</cp:coreProperties>
</file>