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82" r:id="rId2"/>
    <p:sldId id="283" r:id="rId3"/>
    <p:sldId id="284" r:id="rId4"/>
    <p:sldId id="293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296" r:id="rId16"/>
    <p:sldId id="297" r:id="rId1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6014EB-A614-C934-C2C8-2599EE067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EBA6B9C-9890-8134-4234-34E9F0137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883165-2B91-C7E6-C414-9316DF13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691AA8-A866-B921-29A7-7BDDFE5E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4BCF50-06BA-A430-251B-5A854B62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412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CB3C23-DC86-A24A-E3FC-D54C283B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23E25F-0F90-B2B1-65E2-D34536C2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43C309-9362-3D55-4B33-5C7D501B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5C7D6D8-83BF-979A-1290-A2336F4C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8CCACE2-3D29-58D7-AAB1-630825A0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1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581E0D-A35F-4958-FEE1-B7D58B78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60DBBD0-7DCD-E37E-02A9-7D8B4276F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D71E4FD-B408-FBC6-5692-E621B624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B19756-FDC5-C7E5-C53B-BE98C6AB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BAAF07D-3B3F-88A9-D07E-C55B0111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031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D60769-F9B9-1105-BC60-FE25BAE7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ADBCF87-8126-ACF7-A76B-3D1606499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18AABDC-9FC9-7775-B30C-3A8F1A9CD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C3E6B4B-D376-7113-23FB-4179DDEB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19525D0-3FD5-F679-5264-A1154417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4D92B82-1923-8997-9117-EAE069FA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090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9370B1-5AD4-AC65-8F33-9A2C35A04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3D5C34E-9815-5EF0-25F9-3D87DD40D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2B24EAC-42F4-9CF0-A76F-51A979725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74E06B2-284E-B5AD-EC78-B701AD171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478C72D-08E1-CDCD-7078-09F8FA692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E647269-88C9-1CD2-78AF-0EFA3980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676EF25-F43E-EFCD-714F-50D903F8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638A971-D499-A9E1-279F-8129CC3A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022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9B91BC-9409-D43D-5AFC-1D0B5C2B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A30AEC7-D719-CB9E-18AF-F01F21E3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2AB1467-0B68-DE68-0C79-181086D6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5A924AA-F97B-F9AC-5A57-E0D7F097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8249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A733C54-80FF-5BF4-2BF4-867ACDB2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521242C-9E3C-9E62-D55F-0329C488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045E35-D907-5C9B-5A97-E3975623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397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9C8405-76C2-CF57-17A1-68A21F53C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7933978-8F39-A4BA-E9A1-D6BB56F51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4B1B4A6-5354-5EF5-3C9E-6D5E7B563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D62A4D3-397E-16B1-E75D-C1DAE415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DD7C717-D21F-88E4-43B4-3A4481D9F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57E513A-6C4C-7F83-8D68-66EE00A6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227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CFEEE4-A64D-257C-B964-96B67E3C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4B2D5D9-EF50-7BAD-B3C8-AED985075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5D6D850-FC9D-8496-3104-F9B28AF3C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FC3AF3A-8A10-B29D-C1AC-BDBBF369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E620AF8-5164-DB90-0577-A5A87CDF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8C8D041-767D-6E8D-69FC-0FCAB879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885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8FDF46-A727-7479-4303-CE077877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19CEAC6-9D7F-9683-768C-CCC5BADC7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6A8E65-F2B7-D4E9-4C77-66ADE659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BEFC685-9FA3-0B4A-AE0C-000EA18F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4C41EE-C603-51FA-9A5B-7DAA461C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541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A35BE58-9B9B-E64E-D9A3-A48658DEF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8099DFB-BFDD-02B3-E06C-87DC82762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58A1E58-0123-707E-BAE8-F93E81DB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34BFF74-3EFC-F7C4-0F3D-753E099E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376B7A3-DD3F-EB72-A149-3243877E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54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B7EEE74-515D-D54F-602A-31EF4856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5E6B8C-D61A-0185-2E03-BB8DD6B7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D3E3CC-64E9-DE8D-E1B6-DAAC0886A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9FE9E-80BC-4A3F-8616-EA3959A82939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75E4E8A-2CFB-2D70-89D7-A8B3F5B30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029D129-40D7-DE40-F1B0-EFD4DE151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8A6DA-5DD3-4BAD-9755-72DB411D0F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059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B24D-A8FA-5C7A-8704-7D964147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5643296E-E44C-D0B6-7CFD-E832A4C48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/>
          <a:lstStyle/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4B286F4F-DAFF-EA7A-B286-FC497EF63EA5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he-I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09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DCF3-E5CD-D414-B489-A51DE552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F91B02A9-6A88-18C4-AA01-D9E80A3C6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rgbClr val="FF0000"/>
                </a:solidFill>
              </a:rPr>
              <a:t>בצד ימין של השקופית הוסף </a:t>
            </a:r>
            <a:r>
              <a:rPr lang="he-IL" b="1" dirty="0">
                <a:solidFill>
                  <a:srgbClr val="FF0000"/>
                </a:solidFill>
              </a:rPr>
              <a:t>תמונה אחת</a:t>
            </a:r>
            <a:r>
              <a:rPr lang="he-IL" dirty="0">
                <a:solidFill>
                  <a:srgbClr val="FF0000"/>
                </a:solidFill>
              </a:rPr>
              <a:t> שממחישה:</a:t>
            </a:r>
          </a:p>
          <a:p>
            <a:pPr algn="r" rtl="0"/>
            <a:r>
              <a:rPr lang="en-US" dirty="0">
                <a:solidFill>
                  <a:srgbClr val="FF0000"/>
                </a:solidFill>
              </a:rPr>
              <a:t>High Quality Image  →  Low Resolution / Noisy Image</a:t>
            </a:r>
          </a:p>
          <a:p>
            <a:pPr algn="r"/>
            <a:endParaRPr lang="he-IL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1052E8A3-9343-E097-FA29-3163F947793B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/>
              <a:t>כאן חשוב להסביר ולא לקרוא מהשקופית.</a:t>
            </a:r>
          </a:p>
          <a:p>
            <a:pPr algn="r"/>
            <a:r>
              <a:rPr lang="he-IL" sz="2000"/>
              <a:t>אפשר להגיד בערך כך:</a:t>
            </a:r>
          </a:p>
          <a:p>
            <a:pPr algn="r"/>
            <a:r>
              <a:rPr lang="he-IL" sz="2000"/>
              <a:t>״מערכות מודרניות לסיווג תמונות מבוססות למידה עמוקה משיגות ביצועים מאוד גבוהים כאשר התמונות באיכות טובה, כמו בדאטהסטים סטנדרטיים כגון </a:t>
            </a:r>
            <a:r>
              <a:rPr lang="en-US" sz="2000"/>
              <a:t>ImageNet.</a:t>
            </a:r>
          </a:p>
          <a:p>
            <a:pPr algn="r"/>
            <a:r>
              <a:rPr lang="he-IL" sz="2000"/>
              <a:t>אבל במערכות הדמיה רבות בעולם האמיתי, איכות התמונה נמוכה בהרבה.</a:t>
            </a:r>
          </a:p>
          <a:p>
            <a:pPr algn="r"/>
            <a:r>
              <a:rPr lang="he-IL" sz="2000"/>
              <a:t>לדוגמה, במערכות הדמיה בתדרי טרה-הרץ, התמונות שמתקבלות הן ברזולוציה נמוכה, עם רעש גבוה ואובדן פרטים חזותיים.</a:t>
            </a:r>
          </a:p>
          <a:p>
            <a:pPr algn="r"/>
            <a:r>
              <a:rPr lang="he-IL" sz="2000"/>
              <a:t>במצבים כאלה, מודלי סיווג סטנדרטיים מתקשים מאוד לזהות את האובייקטים, והדיוק שלהם יורד בצורה משמעותית.</a:t>
            </a:r>
          </a:p>
          <a:p>
            <a:pPr algn="r"/>
            <a:r>
              <a:rPr lang="he-IL" sz="2000"/>
              <a:t>המוטיבציה של הפרויקט שלנו היא לבדוק עד כמה ניתן לשמור על ביצועי סיווג טובים גם כאשר איכות התמונה נפגעת בצורה משמעותית.״</a:t>
            </a:r>
          </a:p>
        </p:txBody>
      </p:sp>
    </p:spTree>
    <p:extLst>
      <p:ext uri="{BB962C8B-B14F-4D97-AF65-F5344CB8AC3E}">
        <p14:creationId xmlns:p14="http://schemas.microsoft.com/office/powerpoint/2010/main" val="246026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F949-28CC-1E04-4F94-C1081B88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C85EDE5E-E170-C810-62AB-BF98246E6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מטרת השקופית- להגדיר בצורה מדויקת: מה הבעיה שאנחנו מנסים לפתור?</a:t>
            </a:r>
            <a:br>
              <a:rPr lang="en-US" sz="1600" b="1" dirty="0"/>
            </a:br>
            <a:r>
              <a:rPr lang="he-IL" sz="1600" b="1" dirty="0"/>
              <a:t>בדוח שלכם הבעיה מנוסחת </a:t>
            </a:r>
            <a:r>
              <a:rPr lang="he-IL" sz="1600" b="1" dirty="0" err="1"/>
              <a:t>כך:מערכות</a:t>
            </a:r>
            <a:r>
              <a:rPr lang="he-IL" sz="1600" b="1" dirty="0"/>
              <a:t> סיווג סטנדרטיות מתקשות לזהות עצמים כאשר התמונות הן ברזולוציה נמוכה עם רעש גבוה, כמו בהדמיית </a:t>
            </a:r>
            <a:r>
              <a:rPr lang="en-US" sz="1600" b="1" dirty="0"/>
              <a:t>THz</a:t>
            </a:r>
          </a:p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C0169A73-FC6D-2C90-88EE-EDDACF072A6C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״מודלים מודרניים לסיווג תמונות, ובעיקר רשתות </a:t>
            </a:r>
            <a:r>
              <a:rPr lang="he-IL" sz="2000" dirty="0" err="1"/>
              <a:t>קונבולוציה</a:t>
            </a:r>
            <a:r>
              <a:rPr lang="he-IL" sz="2000" dirty="0"/>
              <a:t>, מסתמכים מאוד על פרטים חזותיים בתמונה – כמו טקסטורות, קצוות ודפוסים מרחביים.</a:t>
            </a:r>
          </a:p>
          <a:p>
            <a:pPr algn="r"/>
            <a:r>
              <a:rPr lang="he-IL" sz="2000" dirty="0"/>
              <a:t>כאשר איכות התמונה יורדת בצורה משמעותית – למשל בגלל רזולוציה נמוכה, טשטוש או רעש – חלק גדול מהמידע הזה נעלם.</a:t>
            </a:r>
          </a:p>
          <a:p>
            <a:pPr algn="r"/>
            <a:r>
              <a:rPr lang="he-IL" sz="2000" dirty="0"/>
              <a:t>כתוצאה מכך, מודלים שנבנו עבור תמונות איכותיות מתקשים לזהות את האובייקטים בצורה נכונה.</a:t>
            </a:r>
          </a:p>
          <a:p>
            <a:pPr algn="r"/>
            <a:r>
              <a:rPr lang="he-IL" sz="2000" dirty="0"/>
              <a:t>לכן השאלה המחקרית של הפרויקט שלנו היא:</a:t>
            </a:r>
            <a:br>
              <a:rPr lang="he-IL" sz="2000" dirty="0"/>
            </a:br>
            <a:r>
              <a:rPr lang="he-IL" sz="2000" dirty="0"/>
              <a:t>עד כמה מודלי </a:t>
            </a:r>
            <a:r>
              <a:rPr lang="en-US" sz="2000" dirty="0"/>
              <a:t>Deep Learning </a:t>
            </a:r>
            <a:r>
              <a:rPr lang="he-IL" sz="2000" dirty="0"/>
              <a:t>מודרניים מסוגלים להישאר יציבים ולשמור על ביצועי סיווג טובים גם כאשר איכות התמונה נפגעת בצורה חמורה.״</a:t>
            </a:r>
          </a:p>
          <a:p>
            <a:pPr algn="r"/>
            <a:endParaRPr lang="he-I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9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005F-054E-0AEF-F28D-F9C2328E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03CA93B5-1F9E-6E35-EDB0-51B0C06AD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468" y="411480"/>
            <a:ext cx="9413748" cy="1828800"/>
          </a:xfrm>
        </p:spPr>
        <p:txBody>
          <a:bodyPr>
            <a:normAutofit/>
          </a:bodyPr>
          <a:lstStyle/>
          <a:p>
            <a:pPr algn="r"/>
            <a:r>
              <a:rPr lang="he-IL" sz="1800" b="1" dirty="0"/>
              <a:t>שקופית 4 – </a:t>
            </a:r>
            <a:r>
              <a:rPr lang="en-US" sz="1800" b="1" dirty="0"/>
              <a:t>Project Goals</a:t>
            </a:r>
            <a:r>
              <a:rPr lang="en-US" sz="1800" dirty="0"/>
              <a:t>.</a:t>
            </a:r>
            <a:br>
              <a:rPr lang="en-US" sz="1800" dirty="0"/>
            </a:br>
            <a:br>
              <a:rPr lang="en-US" sz="1800" dirty="0"/>
            </a:br>
            <a:r>
              <a:rPr lang="he-IL" sz="1800" dirty="0"/>
              <a:t>מראה למרצים </a:t>
            </a:r>
            <a:r>
              <a:rPr lang="he-IL" sz="1800" b="1" dirty="0"/>
              <a:t>מה בדיוק אתם מנסים להשיג בפרויקט</a:t>
            </a:r>
            <a:r>
              <a:rPr lang="he-IL" sz="1800" dirty="0"/>
              <a:t> – כלומר מה היעדים המחקריים והטכניים.</a:t>
            </a:r>
            <a:br>
              <a:rPr lang="en-US" sz="1800" dirty="0"/>
            </a:br>
            <a:r>
              <a:rPr lang="he-IL" sz="1800" dirty="0"/>
              <a:t>בדוח המקדים שלכם כבר הוגדרו כמה מטרות ברורות, למשל:</a:t>
            </a:r>
            <a:br>
              <a:rPr lang="en-US" sz="1800" dirty="0"/>
            </a:br>
            <a:r>
              <a:rPr lang="he-IL" sz="1800" dirty="0"/>
              <a:t>להגיע לדיוק של בערך </a:t>
            </a:r>
            <a:r>
              <a:rPr lang="he-IL" sz="1800" b="1" dirty="0"/>
              <a:t>80% גם כאשר התמונות </a:t>
            </a:r>
            <a:r>
              <a:rPr lang="en-US" sz="1800" b="1" dirty="0"/>
              <a:t>degraded</a:t>
            </a:r>
            <a:br>
              <a:rPr lang="en-US" sz="1800" b="1" dirty="0"/>
            </a:br>
            <a:r>
              <a:rPr lang="he-IL" sz="1800" dirty="0"/>
              <a:t>למצוא </a:t>
            </a:r>
            <a:r>
              <a:rPr lang="en-US" sz="1800" b="1" dirty="0"/>
              <a:t>architecture </a:t>
            </a:r>
            <a:r>
              <a:rPr lang="he-IL" sz="1800" b="1" dirty="0"/>
              <a:t> מתאים</a:t>
            </a:r>
            <a:br>
              <a:rPr lang="en-US" sz="1800" b="1" dirty="0"/>
            </a:br>
            <a:r>
              <a:rPr lang="he-IL" sz="1800" dirty="0"/>
              <a:t>לשמור על </a:t>
            </a:r>
            <a:r>
              <a:rPr lang="he-IL" sz="1800" b="1" dirty="0"/>
              <a:t>זמן </a:t>
            </a:r>
            <a:r>
              <a:rPr lang="en-US" sz="1800" b="1" dirty="0"/>
              <a:t> inference </a:t>
            </a:r>
            <a:r>
              <a:rPr lang="he-IL" sz="1800" b="1" dirty="0"/>
              <a:t>נמוך</a:t>
            </a:r>
            <a:r>
              <a:rPr lang="he-IL" sz="1800" dirty="0"/>
              <a:t> </a:t>
            </a:r>
          </a:p>
          <a:p>
            <a:endParaRPr lang="he-IL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6B32D2F4-46C4-4784-868C-176A5AFFA3EA}"/>
              </a:ext>
            </a:extLst>
          </p:cNvPr>
          <p:cNvSpPr txBox="1">
            <a:spLocks/>
          </p:cNvSpPr>
          <p:nvPr/>
        </p:nvSpPr>
        <p:spPr>
          <a:xfrm>
            <a:off x="1661160" y="2359152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״המטרה המרכזית של הפרויקט שלנו היא לבדוק עד כמה מודלי </a:t>
            </a:r>
            <a:r>
              <a:rPr lang="en-US" sz="2000" dirty="0"/>
              <a:t>Deep Learning </a:t>
            </a:r>
            <a:r>
              <a:rPr lang="he-IL" sz="2000" dirty="0"/>
              <a:t> מודרניים מסוגלים לבצע סיווג תמונות בצורה יציבה גם כאשר איכות התמונה נפגעת בצורה משמעותית.</a:t>
            </a:r>
          </a:p>
          <a:p>
            <a:pPr algn="r"/>
            <a:r>
              <a:rPr lang="he-IL" sz="2000" dirty="0"/>
              <a:t>במסגרת הפרויקט אנחנו משווים בין מספר ארכיטקטורות שונות של רשתות נוירונים, כולל </a:t>
            </a:r>
            <a:r>
              <a:rPr lang="en-US" sz="2000" dirty="0" err="1"/>
              <a:t>ResNet</a:t>
            </a:r>
            <a:r>
              <a:rPr lang="en-US" sz="2000" dirty="0"/>
              <a:t>, </a:t>
            </a:r>
            <a:r>
              <a:rPr lang="en-US" sz="2000" dirty="0" err="1"/>
              <a:t>DenseNet</a:t>
            </a:r>
            <a:r>
              <a:rPr lang="en-US" sz="2000" dirty="0"/>
              <a:t> </a:t>
            </a:r>
            <a:r>
              <a:rPr lang="he-IL" sz="2000" dirty="0"/>
              <a:t> ומודל </a:t>
            </a:r>
            <a:r>
              <a:rPr lang="en-US" sz="2000" dirty="0"/>
              <a:t>Transformer </a:t>
            </a:r>
            <a:r>
              <a:rPr lang="he-IL" sz="2000" dirty="0"/>
              <a:t> מתקדם בשם </a:t>
            </a:r>
            <a:r>
              <a:rPr lang="en-US" sz="2000" dirty="0" err="1"/>
              <a:t>TransNeXt</a:t>
            </a:r>
            <a:r>
              <a:rPr lang="en-US" sz="2000" dirty="0"/>
              <a:t>.</a:t>
            </a:r>
          </a:p>
          <a:p>
            <a:pPr algn="r"/>
            <a:r>
              <a:rPr lang="he-IL" sz="2000" dirty="0"/>
              <a:t>בנוסף, אנחנו בוחנים כיצד רמות שונות של </a:t>
            </a:r>
            <a:r>
              <a:rPr lang="en-US" sz="2000" dirty="0"/>
              <a:t>degradation </a:t>
            </a:r>
            <a:r>
              <a:rPr lang="he-IL" sz="2000" dirty="0"/>
              <a:t> משפיעות על דיוק הסיווג.</a:t>
            </a:r>
          </a:p>
          <a:p>
            <a:pPr algn="r"/>
            <a:r>
              <a:rPr lang="he-IL" sz="2000" dirty="0"/>
              <a:t>המטרה היא להבין איזה סוג מודל מצליח לשמור על ביצועים טובים יותר גם כאשר המידע החזותי בתמונה נפגע.״</a:t>
            </a:r>
          </a:p>
        </p:txBody>
      </p:sp>
    </p:spTree>
    <p:extLst>
      <p:ext uri="{BB962C8B-B14F-4D97-AF65-F5344CB8AC3E}">
        <p14:creationId xmlns:p14="http://schemas.microsoft.com/office/powerpoint/2010/main" val="206740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6F31-46BB-C3DB-115D-3C747331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EAE725C0-E6BC-8529-776E-87BEDA1E3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Slide 5 — Dataset</a:t>
            </a:r>
            <a:br>
              <a:rPr lang="en-US" b="1" dirty="0"/>
            </a:br>
            <a:r>
              <a:rPr lang="he-IL" dirty="0">
                <a:solidFill>
                  <a:srgbClr val="FF0000"/>
                </a:solidFill>
              </a:rPr>
              <a:t>מתחת לטקסט או בצד השקופית</a:t>
            </a:r>
            <a:br>
              <a:rPr lang="he-IL" dirty="0">
                <a:solidFill>
                  <a:srgbClr val="FF0000"/>
                </a:solidFill>
              </a:rPr>
            </a:br>
            <a:r>
              <a:rPr lang="he-IL" dirty="0">
                <a:solidFill>
                  <a:srgbClr val="FF0000"/>
                </a:solidFill>
              </a:rPr>
              <a:t>שים </a:t>
            </a:r>
            <a:r>
              <a:rPr lang="he-IL" b="1" dirty="0">
                <a:solidFill>
                  <a:srgbClr val="FF0000"/>
                </a:solidFill>
              </a:rPr>
              <a:t>תמונה של </a:t>
            </a:r>
            <a:r>
              <a:rPr lang="en-US" b="1" dirty="0">
                <a:solidFill>
                  <a:srgbClr val="FF0000"/>
                </a:solidFill>
              </a:rPr>
              <a:t>CIFAR-10 grid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C3CE0374-DB3C-FCDA-856E-62FF83BE2356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״לצורך הניסויים השתמשנו </a:t>
            </a:r>
            <a:r>
              <a:rPr lang="he-IL" sz="2000" dirty="0" err="1"/>
              <a:t>בדאטהסט</a:t>
            </a:r>
            <a:r>
              <a:rPr lang="he-IL" sz="2000" dirty="0"/>
              <a:t> </a:t>
            </a:r>
            <a:r>
              <a:rPr lang="en-US" sz="2000" dirty="0"/>
              <a:t>CIFAR-10, </a:t>
            </a:r>
            <a:r>
              <a:rPr lang="he-IL" sz="2000" dirty="0"/>
              <a:t> שהוא אחד </a:t>
            </a:r>
            <a:r>
              <a:rPr lang="he-IL" sz="2000" dirty="0" err="1"/>
              <a:t>הדאטהסטים</a:t>
            </a:r>
            <a:r>
              <a:rPr lang="he-IL" sz="2000" dirty="0"/>
              <a:t> הסטנדרטיים בתחום סיווג התמונות.</a:t>
            </a:r>
          </a:p>
          <a:p>
            <a:pPr algn="r"/>
            <a:r>
              <a:rPr lang="he-IL" sz="2000" dirty="0" err="1"/>
              <a:t>הדאטהסט</a:t>
            </a:r>
            <a:r>
              <a:rPr lang="he-IL" sz="2000" dirty="0"/>
              <a:t> כולל 60 אלף תמונות צבעוניות המחולקות לעשר קטגוריות שונות של אובייקטים, כמו מטוס, רכב, חתול, כלב ועוד.</a:t>
            </a:r>
          </a:p>
          <a:p>
            <a:pPr algn="r"/>
            <a:r>
              <a:rPr lang="he-IL" sz="2000" dirty="0"/>
              <a:t>רזולוציית התמונות היא 32 על 32 פיקסלים, ולכן הוא מתאים במיוחד למחקר שעוסק בסיווג תמונות ברזולוציה נמוכה.</a:t>
            </a:r>
          </a:p>
          <a:p>
            <a:pPr algn="r"/>
            <a:r>
              <a:rPr lang="he-IL" sz="2000" dirty="0"/>
              <a:t>בדומה לשימוש המקובל </a:t>
            </a:r>
            <a:r>
              <a:rPr lang="he-IL" sz="2000" dirty="0" err="1"/>
              <a:t>בדאטהסט</a:t>
            </a:r>
            <a:r>
              <a:rPr lang="he-IL" sz="2000" dirty="0"/>
              <a:t>, חילקנו אותו ל-50 אלף תמונות לאימון ו-10 אלף תמונות לבחינה.״</a:t>
            </a:r>
          </a:p>
        </p:txBody>
      </p:sp>
    </p:spTree>
    <p:extLst>
      <p:ext uri="{BB962C8B-B14F-4D97-AF65-F5344CB8AC3E}">
        <p14:creationId xmlns:p14="http://schemas.microsoft.com/office/powerpoint/2010/main" val="73777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A2658-E6B4-D211-FFAB-3F9FEE3F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814A2CC3-B66B-BCE9-DAC5-4A1539912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283464"/>
            <a:ext cx="9348216" cy="135331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Slide 6 — THz Degradation Simulation</a:t>
            </a:r>
            <a:br>
              <a:rPr lang="en-US" b="1" dirty="0"/>
            </a:br>
            <a:br>
              <a:rPr lang="en-US" b="1" dirty="0"/>
            </a:br>
            <a:r>
              <a:rPr lang="he-IL" dirty="0">
                <a:solidFill>
                  <a:srgbClr val="FF0000"/>
                </a:solidFill>
              </a:rPr>
              <a:t>אם יש לך זמן — תיצור </a:t>
            </a:r>
            <a:r>
              <a:rPr lang="he-IL" b="1" dirty="0">
                <a:solidFill>
                  <a:srgbClr val="FF0000"/>
                </a:solidFill>
              </a:rPr>
              <a:t>דוגמה אחת אמיתית</a:t>
            </a:r>
            <a:r>
              <a:rPr lang="he-IL" dirty="0">
                <a:solidFill>
                  <a:srgbClr val="FF0000"/>
                </a:solidFill>
              </a:rPr>
              <a:t>:</a:t>
            </a:r>
          </a:p>
          <a:p>
            <a:r>
              <a:rPr lang="he-IL" dirty="0">
                <a:solidFill>
                  <a:srgbClr val="FF0000"/>
                </a:solidFill>
              </a:rPr>
              <a:t>תמונה אחת של </a:t>
            </a:r>
            <a:r>
              <a:rPr lang="en-US" dirty="0">
                <a:solidFill>
                  <a:srgbClr val="FF0000"/>
                </a:solidFill>
              </a:rPr>
              <a:t>CIFAR-10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he-IL" dirty="0">
                <a:solidFill>
                  <a:srgbClr val="FF0000"/>
                </a:solidFill>
              </a:rPr>
              <a:t>ומתחתיה:</a:t>
            </a:r>
          </a:p>
          <a:p>
            <a:pPr rtl="0"/>
            <a:r>
              <a:rPr lang="en-US" dirty="0">
                <a:solidFill>
                  <a:srgbClr val="FF0000"/>
                </a:solidFill>
              </a:rPr>
              <a:t>Original → degraded</a:t>
            </a:r>
          </a:p>
          <a:p>
            <a:endParaRPr lang="en-US" b="1" dirty="0"/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9D8483DC-FB8C-54B8-930A-0B326C517FCE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dirty="0"/>
              <a:t>״כדי לדמות תנאים של הדמיה בתדרי טרה-הרץ, אנחנו לא משתמשים בתמונות רגילות כפי שהן מופיעות </a:t>
            </a:r>
            <a:r>
              <a:rPr lang="he-IL" sz="2000" dirty="0" err="1"/>
              <a:t>בדאטהסט</a:t>
            </a:r>
            <a:r>
              <a:rPr lang="he-IL" sz="2000" dirty="0"/>
              <a:t>.</a:t>
            </a:r>
          </a:p>
          <a:p>
            <a:r>
              <a:rPr lang="he-IL" sz="2000" dirty="0"/>
              <a:t>במקום זאת, אנחנו מיישמים על התמונות תהליך של </a:t>
            </a:r>
            <a:r>
              <a:rPr lang="en-US" sz="2000" dirty="0"/>
              <a:t> degradation </a:t>
            </a:r>
            <a:r>
              <a:rPr lang="he-IL" sz="2000" dirty="0"/>
              <a:t>מבוקר שמדמה את הפגיעה באיכות התמונה שמתקבלת מחיישנים כאלה.</a:t>
            </a:r>
          </a:p>
          <a:p>
            <a:r>
              <a:rPr lang="he-IL" sz="2000" dirty="0"/>
              <a:t>התהליך כולל מספר שלבים. קודם כל אנחנו מורידים את הרזולוציה של התמונה באמצעות </a:t>
            </a:r>
            <a:r>
              <a:rPr lang="en-US" sz="2000" dirty="0" err="1"/>
              <a:t>downsampling</a:t>
            </a:r>
            <a:r>
              <a:rPr lang="en-US" sz="2000" dirty="0"/>
              <a:t>, </a:t>
            </a:r>
            <a:r>
              <a:rPr lang="he-IL" sz="2000" dirty="0"/>
              <a:t> כדי לדמות אובדן מידע מרחבי.</a:t>
            </a:r>
          </a:p>
          <a:p>
            <a:r>
              <a:rPr lang="he-IL" sz="2000" dirty="0"/>
              <a:t>לאחר מכן אנחנו מוסיפים טשטוש מסוג </a:t>
            </a:r>
            <a:r>
              <a:rPr lang="en-US" sz="2000" dirty="0"/>
              <a:t> Gaussian blur </a:t>
            </a:r>
            <a:r>
              <a:rPr lang="he-IL" sz="2000" dirty="0"/>
              <a:t>וגם רעש, כדי לדמות את הרעש שמופיע לעיתים קרובות במערכות הדמיה.</a:t>
            </a:r>
          </a:p>
          <a:p>
            <a:r>
              <a:rPr lang="he-IL" sz="2000" dirty="0"/>
              <a:t>בנוסף, בחלק מהניסויים אנחנו גם מסירים מידע צבעוני.</a:t>
            </a:r>
          </a:p>
          <a:p>
            <a:r>
              <a:rPr lang="he-IL" sz="2000" dirty="0"/>
              <a:t>כך מתקבלת תמונה </a:t>
            </a:r>
            <a:r>
              <a:rPr lang="en-US" sz="2000" dirty="0"/>
              <a:t> degraded </a:t>
            </a:r>
            <a:r>
              <a:rPr lang="he-IL" sz="2000" dirty="0"/>
              <a:t>שמדמה בצורה טובה יותר את התנאים של הדמיה באיכות נמוכה.״</a:t>
            </a:r>
          </a:p>
        </p:txBody>
      </p:sp>
    </p:spTree>
    <p:extLst>
      <p:ext uri="{BB962C8B-B14F-4D97-AF65-F5344CB8AC3E}">
        <p14:creationId xmlns:p14="http://schemas.microsoft.com/office/powerpoint/2010/main" val="40805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AFF2-6905-DD48-28FB-10C2F745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A5FD54ED-5718-8FAA-5C4F-5B0C10083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028176" cy="207568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Slide 7 — System Pipeline</a:t>
            </a:r>
          </a:p>
          <a:p>
            <a:r>
              <a:rPr lang="he-IL" b="1" dirty="0"/>
              <a:t>מטרת השקופית</a:t>
            </a:r>
          </a:p>
          <a:p>
            <a:r>
              <a:rPr lang="he-IL" dirty="0"/>
              <a:t>להראות </a:t>
            </a:r>
            <a:r>
              <a:rPr lang="he-IL" b="1" dirty="0"/>
              <a:t>את זרימת המידע במערכת</a:t>
            </a:r>
            <a:r>
              <a:rPr lang="he-IL" dirty="0"/>
              <a:t>.</a:t>
            </a:r>
          </a:p>
          <a:p>
            <a:r>
              <a:rPr lang="he-IL" dirty="0"/>
              <a:t>מהתמונה המקורית</a:t>
            </a:r>
            <a:br>
              <a:rPr lang="he-IL" dirty="0"/>
            </a:br>
            <a:r>
              <a:rPr lang="he-IL" dirty="0"/>
              <a:t>ועד הסיווג הסופי.</a:t>
            </a:r>
            <a:br>
              <a:rPr lang="en-US" dirty="0"/>
            </a:br>
            <a:br>
              <a:rPr lang="en-US" dirty="0"/>
            </a:br>
            <a:r>
              <a:rPr lang="he-IL" b="1" dirty="0">
                <a:solidFill>
                  <a:srgbClr val="FF0000"/>
                </a:solidFill>
              </a:rPr>
              <a:t>מבנה השקופית ב-</a:t>
            </a:r>
            <a:r>
              <a:rPr lang="en-US" b="1" dirty="0">
                <a:solidFill>
                  <a:srgbClr val="FF0000"/>
                </a:solidFill>
              </a:rPr>
              <a:t>PowerPoint</a:t>
            </a:r>
          </a:p>
          <a:p>
            <a:r>
              <a:rPr lang="he-IL" dirty="0">
                <a:solidFill>
                  <a:srgbClr val="FF0000"/>
                </a:solidFill>
              </a:rPr>
              <a:t>עדיף להשתמש ב-</a:t>
            </a:r>
            <a:r>
              <a:rPr lang="en-US" dirty="0">
                <a:solidFill>
                  <a:srgbClr val="FF0000"/>
                </a:solidFill>
              </a:rPr>
              <a:t>Layout </a:t>
            </a:r>
            <a:r>
              <a:rPr lang="he-IL" dirty="0">
                <a:solidFill>
                  <a:srgbClr val="FF0000"/>
                </a:solidFill>
              </a:rPr>
              <a:t> של:</a:t>
            </a:r>
          </a:p>
          <a:p>
            <a:r>
              <a:rPr lang="en-US" b="1" dirty="0">
                <a:solidFill>
                  <a:srgbClr val="FF0000"/>
                </a:solidFill>
              </a:rPr>
              <a:t>Title + Diagram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he-IL" dirty="0">
                <a:solidFill>
                  <a:srgbClr val="FF0000"/>
                </a:solidFill>
              </a:rPr>
              <a:t>או ליצור תרשים בעזרת </a:t>
            </a:r>
            <a:r>
              <a:rPr lang="en-US" b="1" dirty="0">
                <a:solidFill>
                  <a:srgbClr val="FF0000"/>
                </a:solidFill>
              </a:rPr>
              <a:t>SmartArt → Process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he-IL" dirty="0"/>
          </a:p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6AD4191A-D723-1477-6574-52EF51BC17F6}"/>
              </a:ext>
            </a:extLst>
          </p:cNvPr>
          <p:cNvSpPr txBox="1">
            <a:spLocks/>
          </p:cNvSpPr>
          <p:nvPr/>
        </p:nvSpPr>
        <p:spPr>
          <a:xfrm>
            <a:off x="1706880" y="3118104"/>
            <a:ext cx="9220200" cy="2962656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״כאן ניתן לראות את ה-</a:t>
            </a:r>
            <a:r>
              <a:rPr lang="en-US" sz="2000" dirty="0"/>
              <a:t>pipeline </a:t>
            </a:r>
            <a:r>
              <a:rPr lang="he-IL" sz="2000" dirty="0"/>
              <a:t> המלא של המערכת שלנו.</a:t>
            </a:r>
          </a:p>
          <a:p>
            <a:pPr algn="r"/>
            <a:r>
              <a:rPr lang="he-IL" sz="2000" dirty="0"/>
              <a:t>אנחנו מתחילים מתמונה מקורית מתוך </a:t>
            </a:r>
            <a:r>
              <a:rPr lang="he-IL" sz="2000" dirty="0" err="1"/>
              <a:t>הדאטהסט</a:t>
            </a:r>
            <a:r>
              <a:rPr lang="he-IL" sz="2000" dirty="0"/>
              <a:t> </a:t>
            </a:r>
            <a:r>
              <a:rPr lang="en-US" sz="2000" dirty="0"/>
              <a:t>CIFAR-10 </a:t>
            </a:r>
          </a:p>
          <a:p>
            <a:pPr algn="r"/>
            <a:r>
              <a:rPr lang="he-IL" sz="2000" dirty="0"/>
              <a:t>בשלב הבא אנחנו מפעילים מודול </a:t>
            </a:r>
            <a:r>
              <a:rPr lang="en-US" sz="2000" dirty="0"/>
              <a:t>degradation </a:t>
            </a:r>
            <a:r>
              <a:rPr lang="he-IL" sz="2000" dirty="0"/>
              <a:t> שמדמה תנאים של הדמיה באיכות נמוכה, באמצעות הורדת רזולוציה, הוספת רעש וטשטוש.</a:t>
            </a:r>
          </a:p>
          <a:p>
            <a:pPr algn="r"/>
            <a:r>
              <a:rPr lang="he-IL" sz="2000" dirty="0"/>
              <a:t>לאחר מכן אנחנו מבצעים </a:t>
            </a:r>
            <a:r>
              <a:rPr lang="en-US" sz="2000" dirty="0"/>
              <a:t> </a:t>
            </a:r>
            <a:r>
              <a:rPr lang="en-US" sz="2000" dirty="0" err="1"/>
              <a:t>upsampling</a:t>
            </a:r>
            <a:r>
              <a:rPr lang="en-US" sz="2000" dirty="0"/>
              <a:t> </a:t>
            </a:r>
            <a:r>
              <a:rPr lang="he-IL" sz="2000" dirty="0"/>
              <a:t>של התמונה כך שתתאים לגודל הקלט של הרשת </a:t>
            </a:r>
            <a:r>
              <a:rPr lang="he-IL" sz="2000" dirty="0" err="1"/>
              <a:t>הנוירונית</a:t>
            </a:r>
            <a:r>
              <a:rPr lang="he-IL" sz="2000" dirty="0"/>
              <a:t>.</a:t>
            </a:r>
          </a:p>
          <a:p>
            <a:pPr algn="r"/>
            <a:r>
              <a:rPr lang="he-IL" sz="2000" dirty="0"/>
              <a:t>לאחר ה-</a:t>
            </a:r>
            <a:r>
              <a:rPr lang="en-US" sz="2000" dirty="0" err="1"/>
              <a:t>upsampling</a:t>
            </a:r>
            <a:r>
              <a:rPr lang="en-US" sz="2000" dirty="0"/>
              <a:t> </a:t>
            </a:r>
            <a:r>
              <a:rPr lang="he-IL" sz="2000" dirty="0"/>
              <a:t> אנחנו מבצעים </a:t>
            </a:r>
            <a:r>
              <a:rPr lang="en-US" sz="2000" dirty="0"/>
              <a:t>normalization </a:t>
            </a:r>
            <a:r>
              <a:rPr lang="he-IL" sz="2000" dirty="0"/>
              <a:t> לפי הסטטיסטיקות של </a:t>
            </a:r>
            <a:r>
              <a:rPr lang="en-US" sz="2000" dirty="0"/>
              <a:t>ImageNet, </a:t>
            </a:r>
            <a:r>
              <a:rPr lang="he-IL" sz="2000" dirty="0"/>
              <a:t> כדי להתאים את הקלט למודלים </a:t>
            </a:r>
            <a:r>
              <a:rPr lang="en-US" sz="2000" dirty="0"/>
              <a:t>pretrained </a:t>
            </a:r>
          </a:p>
          <a:p>
            <a:pPr algn="r"/>
            <a:r>
              <a:rPr lang="he-IL" sz="2000" dirty="0"/>
              <a:t>לבסוף התמונה מוזנת למודל הסיווג – למשל </a:t>
            </a:r>
            <a:r>
              <a:rPr lang="en-US" sz="2000" dirty="0" err="1"/>
              <a:t>ResNet</a:t>
            </a:r>
            <a:r>
              <a:rPr lang="en-US" sz="2000" dirty="0"/>
              <a:t>, </a:t>
            </a:r>
            <a:r>
              <a:rPr lang="en-US" sz="2000" dirty="0" err="1"/>
              <a:t>DenseNet</a:t>
            </a:r>
            <a:r>
              <a:rPr lang="en-US" sz="2000" dirty="0"/>
              <a:t> </a:t>
            </a:r>
            <a:r>
              <a:rPr lang="he-IL" sz="2000" dirty="0"/>
              <a:t> או </a:t>
            </a:r>
            <a:r>
              <a:rPr lang="en-US" sz="2000" dirty="0"/>
              <a:t> </a:t>
            </a:r>
            <a:r>
              <a:rPr lang="en-US" sz="2000" dirty="0" err="1"/>
              <a:t>TransNeXt</a:t>
            </a:r>
            <a:r>
              <a:rPr lang="en-US" sz="2000" dirty="0"/>
              <a:t> </a:t>
            </a:r>
            <a:r>
              <a:rPr lang="he-IL" sz="2000" dirty="0"/>
              <a:t>- שמחזיר את המחלקה החזויה של האובייקט בתמונה.״</a:t>
            </a:r>
          </a:p>
        </p:txBody>
      </p:sp>
    </p:spTree>
    <p:extLst>
      <p:ext uri="{BB962C8B-B14F-4D97-AF65-F5344CB8AC3E}">
        <p14:creationId xmlns:p14="http://schemas.microsoft.com/office/powerpoint/2010/main" val="331753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2F1F-9471-7051-1766-53350AB3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AFAD8982-2059-30DF-9B7A-13F8E14E1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56192" cy="1499616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en-US" b="1" dirty="0"/>
              <a:t>Slide 8 — Model</a:t>
            </a:r>
            <a:br>
              <a:rPr lang="en-US" b="1" dirty="0"/>
            </a:br>
            <a:r>
              <a:rPr lang="he-IL" dirty="0"/>
              <a:t>זו השקופית שבה אתם מציגים </a:t>
            </a:r>
            <a:r>
              <a:rPr lang="he-IL" b="1" dirty="0"/>
              <a:t>איזה מודלים בדקתם בפרויקט</a:t>
            </a:r>
            <a:r>
              <a:rPr lang="he-IL" dirty="0"/>
              <a:t>.</a:t>
            </a:r>
          </a:p>
          <a:p>
            <a:pPr algn="r"/>
            <a:r>
              <a:rPr lang="he-IL" dirty="0"/>
              <a:t>המטרה כאן היא להראות למרצים:</a:t>
            </a:r>
          </a:p>
          <a:p>
            <a:pPr algn="r"/>
            <a:r>
              <a:rPr lang="he-IL" dirty="0"/>
              <a:t>שיש </a:t>
            </a:r>
            <a:r>
              <a:rPr lang="en-US" b="1" dirty="0"/>
              <a:t>baseline models</a:t>
            </a:r>
            <a:endParaRPr lang="en-US" dirty="0"/>
          </a:p>
          <a:p>
            <a:pPr algn="r"/>
            <a:r>
              <a:rPr lang="he-IL" dirty="0"/>
              <a:t>ויש </a:t>
            </a:r>
            <a:r>
              <a:rPr lang="he-IL" b="1" dirty="0"/>
              <a:t>מודל מתקדם יותר שאתם בוחנים</a:t>
            </a:r>
            <a:endParaRPr lang="he-IL" dirty="0"/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3B6B3421-93D9-06C1-053B-BEF1D451FB4E}"/>
              </a:ext>
            </a:extLst>
          </p:cNvPr>
          <p:cNvSpPr txBox="1">
            <a:spLocks/>
          </p:cNvSpPr>
          <p:nvPr/>
        </p:nvSpPr>
        <p:spPr>
          <a:xfrm>
            <a:off x="1706880" y="2660904"/>
            <a:ext cx="9265920" cy="341985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״בפרויקט שלנו בדקנו מספר ארכיטקטורות שונות של רשתות נוירונים לצורך סיווג התמונות.</a:t>
            </a:r>
          </a:p>
          <a:p>
            <a:pPr algn="r"/>
            <a:r>
              <a:rPr lang="he-IL" sz="2000" dirty="0"/>
              <a:t>בתור מודלי </a:t>
            </a:r>
            <a:r>
              <a:rPr lang="en-US" sz="2000" dirty="0"/>
              <a:t>baseline </a:t>
            </a:r>
            <a:r>
              <a:rPr lang="he-IL" sz="2000" dirty="0"/>
              <a:t> השתמשנו בארכיטקטורות </a:t>
            </a:r>
            <a:r>
              <a:rPr lang="en-US" sz="2000" dirty="0"/>
              <a:t>CNN </a:t>
            </a:r>
            <a:r>
              <a:rPr lang="he-IL" sz="2000" dirty="0"/>
              <a:t> מוכרות – </a:t>
            </a:r>
            <a:r>
              <a:rPr lang="en-US" sz="2000" dirty="0"/>
              <a:t> </a:t>
            </a:r>
            <a:r>
              <a:rPr lang="en-US" sz="2000" dirty="0" err="1"/>
              <a:t>ResNet</a:t>
            </a:r>
            <a:r>
              <a:rPr lang="en-US" sz="2000" dirty="0"/>
              <a:t> </a:t>
            </a:r>
            <a:r>
              <a:rPr lang="he-IL" sz="2000" dirty="0"/>
              <a:t>ו-</a:t>
            </a:r>
            <a:r>
              <a:rPr lang="en-US" sz="2000" dirty="0" err="1"/>
              <a:t>DenseNet</a:t>
            </a:r>
            <a:r>
              <a:rPr lang="en-US" sz="2000" dirty="0"/>
              <a:t> – </a:t>
            </a:r>
            <a:r>
              <a:rPr lang="he-IL" sz="2000" dirty="0"/>
              <a:t>שהן מודלים נפוצים מאוד במשימות של סיווג תמונות.</a:t>
            </a:r>
          </a:p>
          <a:p>
            <a:pPr algn="r"/>
            <a:r>
              <a:rPr lang="he-IL" sz="2000" dirty="0"/>
              <a:t>בנוסף לכך שילבנו בפרויקט גם מודל מתקדם יותר בשם </a:t>
            </a:r>
            <a:r>
              <a:rPr lang="en-US" sz="2000" dirty="0"/>
              <a:t> </a:t>
            </a:r>
            <a:r>
              <a:rPr lang="en-US" sz="2000" dirty="0" err="1"/>
              <a:t>TransNeXt</a:t>
            </a:r>
            <a:r>
              <a:rPr lang="en-US" sz="2000" dirty="0"/>
              <a:t>, </a:t>
            </a:r>
            <a:r>
              <a:rPr lang="he-IL" sz="2000" dirty="0"/>
              <a:t>שהוא מודל מבוסס </a:t>
            </a:r>
            <a:r>
              <a:rPr lang="en-US" sz="2000" dirty="0"/>
              <a:t> Transformer </a:t>
            </a:r>
            <a:r>
              <a:rPr lang="he-IL" sz="2000" dirty="0"/>
              <a:t> המיועד למשימות ראייה ממוחשבת.</a:t>
            </a:r>
          </a:p>
          <a:p>
            <a:pPr algn="r"/>
            <a:r>
              <a:rPr lang="he-IL" sz="2000" dirty="0"/>
              <a:t>כל המודלים אותחלו באמצעות משקלים </a:t>
            </a:r>
            <a:r>
              <a:rPr lang="en-US" sz="2000" dirty="0"/>
              <a:t>pretrained </a:t>
            </a:r>
            <a:r>
              <a:rPr lang="he-IL" sz="2000" dirty="0"/>
              <a:t> שאומנו על </a:t>
            </a:r>
            <a:r>
              <a:rPr lang="en-US" sz="2000" dirty="0"/>
              <a:t>ImageNet, </a:t>
            </a:r>
            <a:r>
              <a:rPr lang="he-IL" sz="2000" dirty="0"/>
              <a:t> כדי לנצל ידע חזותי כללי ולשפר את ביצועי האימון על </a:t>
            </a:r>
            <a:r>
              <a:rPr lang="he-IL" sz="2000" dirty="0" err="1"/>
              <a:t>הדאטהסט</a:t>
            </a:r>
            <a:r>
              <a:rPr lang="he-IL" sz="2000" dirty="0"/>
              <a:t> שלנו.״</a:t>
            </a:r>
          </a:p>
        </p:txBody>
      </p:sp>
    </p:spTree>
    <p:extLst>
      <p:ext uri="{BB962C8B-B14F-4D97-AF65-F5344CB8AC3E}">
        <p14:creationId xmlns:p14="http://schemas.microsoft.com/office/powerpoint/2010/main" val="140270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50A6-FEBD-38DB-4340-D18646606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23482760-230D-D343-56E6-33C72F291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1968" y="658368"/>
            <a:ext cx="5458968" cy="5120640"/>
          </a:xfrm>
        </p:spPr>
        <p:txBody>
          <a:bodyPr>
            <a:normAutofit/>
          </a:bodyPr>
          <a:lstStyle/>
          <a:p>
            <a:pPr algn="r"/>
            <a:r>
              <a:rPr lang="en-US" sz="2000" dirty="0"/>
              <a:t>Slide 9 — Experimental Setup</a:t>
            </a:r>
            <a:br>
              <a:rPr lang="en-US" sz="2000" dirty="0"/>
            </a:br>
            <a:r>
              <a:rPr lang="he-IL" sz="2000" dirty="0"/>
              <a:t>זו שקופית </a:t>
            </a:r>
            <a:r>
              <a:rPr lang="he-IL" sz="2000" b="1" dirty="0"/>
              <a:t>חשובה מאוד במצגת התקדמות</a:t>
            </a:r>
            <a:r>
              <a:rPr lang="he-IL" sz="2000" dirty="0"/>
              <a:t>, כי כאן אתם מראים למרצים:</a:t>
            </a:r>
          </a:p>
          <a:p>
            <a:pPr algn="r"/>
            <a:r>
              <a:rPr lang="he-IL" sz="2000" dirty="0"/>
              <a:t>שכבר </a:t>
            </a:r>
            <a:r>
              <a:rPr lang="he-IL" sz="2000" b="1" dirty="0"/>
              <a:t>הרצתם ניסויים אמיתיים</a:t>
            </a:r>
            <a:endParaRPr lang="he-IL" sz="2000" dirty="0"/>
          </a:p>
          <a:p>
            <a:pPr algn="r"/>
            <a:r>
              <a:rPr lang="he-IL" sz="2000" dirty="0"/>
              <a:t>שהמערכת </a:t>
            </a:r>
            <a:r>
              <a:rPr lang="he-IL" sz="2000" b="1" dirty="0"/>
              <a:t>עובדת בפועל</a:t>
            </a:r>
            <a:endParaRPr lang="he-IL" sz="2000" dirty="0"/>
          </a:p>
          <a:p>
            <a:pPr algn="r"/>
            <a:r>
              <a:rPr lang="he-IL" sz="2000" dirty="0"/>
              <a:t>שיש לכם </a:t>
            </a:r>
            <a:r>
              <a:rPr lang="en-US" sz="2000" dirty="0"/>
              <a:t> </a:t>
            </a:r>
            <a:r>
              <a:rPr lang="en-US" sz="2000" b="1" dirty="0"/>
              <a:t>framework </a:t>
            </a:r>
            <a:r>
              <a:rPr lang="he-IL" sz="2000" b="1" dirty="0"/>
              <a:t>מסודר לניסויים</a:t>
            </a:r>
            <a:endParaRPr lang="he-IL" sz="2000" dirty="0"/>
          </a:p>
          <a:p>
            <a:pPr algn="r"/>
            <a:r>
              <a:rPr lang="he-IL" sz="2000" dirty="0"/>
              <a:t>זה גם מתחבר ישירות למבנה הפרויקט שלכם    (</a:t>
            </a:r>
            <a:r>
              <a:rPr lang="en-US" sz="2000" dirty="0"/>
              <a:t> runs/,  metrics.csv </a:t>
            </a:r>
            <a:r>
              <a:rPr lang="he-IL" sz="2000" dirty="0"/>
              <a:t> וכו’).</a:t>
            </a:r>
            <a:br>
              <a:rPr lang="en-US" sz="2000" dirty="0"/>
            </a:br>
            <a:br>
              <a:rPr lang="en-US" sz="2000" dirty="0"/>
            </a:br>
            <a:r>
              <a:rPr lang="he-IL" sz="2000" b="1" dirty="0"/>
              <a:t>מטרת השקופית</a:t>
            </a:r>
          </a:p>
          <a:p>
            <a:pPr algn="r"/>
            <a:r>
              <a:rPr lang="he-IL" sz="2000" dirty="0"/>
              <a:t>להסביר </a:t>
            </a:r>
            <a:r>
              <a:rPr lang="he-IL" sz="2000" b="1" dirty="0"/>
              <a:t>איך מתבצע ניסוי בפרויקט שלכם</a:t>
            </a:r>
            <a:r>
              <a:rPr lang="he-IL" sz="2000" dirty="0"/>
              <a:t>.</a:t>
            </a:r>
          </a:p>
          <a:p>
            <a:pPr algn="r"/>
            <a:endParaRPr lang="he-IL" sz="2000" dirty="0"/>
          </a:p>
          <a:p>
            <a:pPr algn="r"/>
            <a:endParaRPr lang="he-IL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F6AD3545-CAD0-679C-C8DE-AC7A01EF8224}"/>
              </a:ext>
            </a:extLst>
          </p:cNvPr>
          <p:cNvSpPr txBox="1">
            <a:spLocks/>
          </p:cNvSpPr>
          <p:nvPr/>
        </p:nvSpPr>
        <p:spPr>
          <a:xfrm>
            <a:off x="466344" y="658368"/>
            <a:ext cx="6016752" cy="542239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״כדי לבצע את הניסויים בפרויקט בנינו סביבת ניסוי מבוססת </a:t>
            </a:r>
            <a:r>
              <a:rPr lang="en-US" sz="2000" dirty="0" err="1"/>
              <a:t>PyTorch</a:t>
            </a:r>
            <a:r>
              <a:rPr lang="en-US" sz="2000" dirty="0"/>
              <a:t>.</a:t>
            </a:r>
          </a:p>
          <a:p>
            <a:pPr algn="r"/>
            <a:r>
              <a:rPr lang="he-IL" sz="2000" dirty="0"/>
              <a:t>בכל ניסוי אנחנו מאמנים אחד מהמודלים שנבחרו על התמונות שעברו תהליך </a:t>
            </a:r>
            <a:r>
              <a:rPr lang="en-US" sz="2000" dirty="0"/>
              <a:t>degradation.</a:t>
            </a:r>
          </a:p>
          <a:p>
            <a:pPr algn="r"/>
            <a:r>
              <a:rPr lang="he-IL" sz="2000" dirty="0"/>
              <a:t>כל המודלים מאותחלים באמצעות משקלים </a:t>
            </a:r>
            <a:r>
              <a:rPr lang="en-US" sz="2000" dirty="0"/>
              <a:t>pretrained </a:t>
            </a:r>
            <a:r>
              <a:rPr lang="he-IL" sz="2000" dirty="0"/>
              <a:t>שאומנו על </a:t>
            </a:r>
            <a:r>
              <a:rPr lang="en-US" sz="2000" dirty="0"/>
              <a:t>ImageNet.</a:t>
            </a:r>
          </a:p>
          <a:p>
            <a:pPr algn="r"/>
            <a:r>
              <a:rPr lang="he-IL" sz="2000" dirty="0"/>
              <a:t>בניסויים בדקנו מספר פרמטרים שונים, כמו רמת ה-</a:t>
            </a:r>
            <a:r>
              <a:rPr lang="en-US" sz="2000" dirty="0"/>
              <a:t> degradation </a:t>
            </a:r>
            <a:r>
              <a:rPr lang="he-IL" sz="2000" dirty="0"/>
              <a:t> של התמונות, קצב הלמידה, גודל ה-</a:t>
            </a:r>
            <a:r>
              <a:rPr lang="en-US" sz="2000" dirty="0"/>
              <a:t>, batch </a:t>
            </a:r>
            <a:r>
              <a:rPr lang="he-IL" sz="2000" dirty="0"/>
              <a:t>וגם אפשרות של הקפאת ה-</a:t>
            </a:r>
            <a:r>
              <a:rPr lang="en-US" sz="2000" dirty="0"/>
              <a:t> backbone </a:t>
            </a:r>
            <a:r>
              <a:rPr lang="he-IL" sz="2000" dirty="0"/>
              <a:t>של הרשת וביצוע </a:t>
            </a:r>
            <a:r>
              <a:rPr lang="en-US" sz="2000" dirty="0"/>
              <a:t>linear probing </a:t>
            </a:r>
            <a:r>
              <a:rPr lang="he-IL" sz="2000" dirty="0"/>
              <a:t> בלבד.</a:t>
            </a:r>
          </a:p>
          <a:p>
            <a:pPr algn="r"/>
            <a:r>
              <a:rPr lang="he-IL" sz="2000" dirty="0"/>
              <a:t>כל ניסוי נשמר בצורה מסודרת, כולל מדדי ביצועים, לוגים ומשקלי המודל, כדי לאפשר ניתוח והשוואה בין הניסויים השונים.״</a:t>
            </a:r>
          </a:p>
        </p:txBody>
      </p:sp>
    </p:spTree>
    <p:extLst>
      <p:ext uri="{BB962C8B-B14F-4D97-AF65-F5344CB8AC3E}">
        <p14:creationId xmlns:p14="http://schemas.microsoft.com/office/powerpoint/2010/main" val="224337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D5AE-6F93-1E3C-42B9-FA0B58F6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C51F27E8-4A6B-579E-8B24-C8DE5FED0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8784" y="530352"/>
            <a:ext cx="3188208" cy="5760720"/>
          </a:xfrm>
        </p:spPr>
        <p:txBody>
          <a:bodyPr>
            <a:normAutofit/>
          </a:bodyPr>
          <a:lstStyle/>
          <a:p>
            <a:pPr algn="r"/>
            <a:r>
              <a:rPr lang="en-US" sz="1600" b="1" dirty="0"/>
              <a:t>Slide 10 — First Experimental Results</a:t>
            </a:r>
            <a:br>
              <a:rPr lang="en-US" sz="1600" b="1" dirty="0"/>
            </a:br>
            <a:br>
              <a:rPr lang="en-US" sz="1600" b="1" dirty="0"/>
            </a:br>
            <a:r>
              <a:rPr lang="he-IL" sz="1600" dirty="0"/>
              <a:t>זו השקופית הראשונה שבה אתם מראים </a:t>
            </a:r>
            <a:r>
              <a:rPr lang="he-IL" sz="1600" b="1" dirty="0"/>
              <a:t>תוצאות אמיתיות מהניסויים</a:t>
            </a:r>
            <a:r>
              <a:rPr lang="he-IL" sz="1600" dirty="0"/>
              <a:t>.</a:t>
            </a:r>
            <a:br>
              <a:rPr lang="he-IL" sz="1600" dirty="0"/>
            </a:br>
            <a:r>
              <a:rPr lang="he-IL" sz="1600" dirty="0"/>
              <a:t>במצגת התקדמות זה קריטי כי לפי ההנחיות צריך להראות </a:t>
            </a:r>
            <a:r>
              <a:rPr lang="he-IL" sz="1600" b="1" dirty="0"/>
              <a:t>מה כבר בוצע ומה למדתם עד עכשיו</a:t>
            </a:r>
            <a:r>
              <a:rPr lang="he-IL" sz="1600" dirty="0"/>
              <a:t>.</a:t>
            </a:r>
          </a:p>
          <a:p>
            <a:pPr algn="r"/>
            <a:br>
              <a:rPr lang="he-IL" sz="1600" dirty="0"/>
            </a:br>
            <a:endParaRPr lang="he-IL" sz="1600" dirty="0"/>
          </a:p>
          <a:p>
            <a:pPr algn="r"/>
            <a:r>
              <a:rPr lang="he-IL" sz="1600" b="1" dirty="0"/>
              <a:t>מטרת השקופית</a:t>
            </a:r>
          </a:p>
          <a:p>
            <a:pPr algn="r"/>
            <a:r>
              <a:rPr lang="he-IL" sz="1600" dirty="0"/>
              <a:t>להראות:</a:t>
            </a:r>
          </a:p>
          <a:p>
            <a:pPr algn="r"/>
            <a:r>
              <a:rPr lang="he-IL" sz="1600" dirty="0"/>
              <a:t>שהמערכת כבר </a:t>
            </a:r>
            <a:r>
              <a:rPr lang="he-IL" sz="1600" b="1" dirty="0"/>
              <a:t>רצה</a:t>
            </a:r>
            <a:endParaRPr lang="he-IL" sz="1600" dirty="0"/>
          </a:p>
          <a:p>
            <a:pPr algn="r"/>
            <a:r>
              <a:rPr lang="he-IL" sz="1600" dirty="0"/>
              <a:t>שיש </a:t>
            </a:r>
            <a:r>
              <a:rPr lang="he-IL" sz="1600" b="1" dirty="0"/>
              <a:t>תוצאות ראשוניות</a:t>
            </a:r>
            <a:endParaRPr lang="he-IL" sz="1600" dirty="0"/>
          </a:p>
          <a:p>
            <a:pPr algn="r"/>
            <a:r>
              <a:rPr lang="he-IL" sz="1600" dirty="0"/>
              <a:t>שיש </a:t>
            </a:r>
            <a:r>
              <a:rPr lang="he-IL" sz="1600" b="1" dirty="0"/>
              <a:t>השוואה בין מודלים</a:t>
            </a:r>
            <a:endParaRPr lang="he-IL" sz="1600" dirty="0"/>
          </a:p>
          <a:p>
            <a:pPr algn="r"/>
            <a:endParaRPr lang="en-US" sz="1600" b="1" dirty="0"/>
          </a:p>
          <a:p>
            <a:pPr algn="r"/>
            <a:endParaRPr lang="he-IL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A5DADC5B-58B1-10B1-46BD-96E6D061E335}"/>
              </a:ext>
            </a:extLst>
          </p:cNvPr>
          <p:cNvSpPr txBox="1">
            <a:spLocks/>
          </p:cNvSpPr>
          <p:nvPr/>
        </p:nvSpPr>
        <p:spPr>
          <a:xfrm>
            <a:off x="2645664" y="530352"/>
            <a:ext cx="5391912" cy="5655564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1800" dirty="0"/>
              <a:t>״בשלב הראשון הרצנו שני מודלים קלאסיים לסיווג תמונות – </a:t>
            </a:r>
            <a:r>
              <a:rPr lang="en-US" sz="1800" dirty="0"/>
              <a:t> ResNet50 </a:t>
            </a:r>
            <a:r>
              <a:rPr lang="he-IL" sz="1800" dirty="0"/>
              <a:t>ו-</a:t>
            </a:r>
            <a:r>
              <a:rPr lang="en-US" sz="1800" dirty="0"/>
              <a:t>DenseNet121 </a:t>
            </a:r>
          </a:p>
          <a:p>
            <a:pPr algn="r"/>
            <a:r>
              <a:rPr lang="he-IL" sz="1800" dirty="0"/>
              <a:t>שני המודלים אותחלו עם משקלים </a:t>
            </a:r>
            <a:r>
              <a:rPr lang="en-US" sz="1800" dirty="0"/>
              <a:t> pretrained </a:t>
            </a:r>
            <a:r>
              <a:rPr lang="he-IL" sz="1800" dirty="0"/>
              <a:t>של </a:t>
            </a:r>
            <a:r>
              <a:rPr lang="en-US" sz="1800" dirty="0"/>
              <a:t> ImageNet </a:t>
            </a:r>
            <a:r>
              <a:rPr lang="he-IL" sz="1800" dirty="0"/>
              <a:t> ואומנו על תמונות </a:t>
            </a:r>
            <a:r>
              <a:rPr lang="en-US" sz="1800" dirty="0"/>
              <a:t> CIFAR-10 </a:t>
            </a:r>
            <a:r>
              <a:rPr lang="he-IL" sz="1800" dirty="0"/>
              <a:t>לאחר תהליך </a:t>
            </a:r>
            <a:r>
              <a:rPr lang="en-US" sz="1800" dirty="0"/>
              <a:t>  degradation </a:t>
            </a:r>
            <a:r>
              <a:rPr lang="he-IL" sz="1800" dirty="0"/>
              <a:t> שמדמה ירידה ברזולוציה.</a:t>
            </a:r>
          </a:p>
          <a:p>
            <a:pPr algn="r"/>
            <a:r>
              <a:rPr lang="he-IL" sz="1800" dirty="0"/>
              <a:t>בגרף ניתן לראות את דיוק ה-</a:t>
            </a:r>
            <a:r>
              <a:rPr lang="en-US" sz="1800" dirty="0"/>
              <a:t> validation </a:t>
            </a:r>
            <a:r>
              <a:rPr lang="he-IL" sz="1800" dirty="0"/>
              <a:t>לאורך האימון.</a:t>
            </a:r>
          </a:p>
          <a:p>
            <a:pPr algn="r"/>
            <a:r>
              <a:rPr lang="he-IL" sz="1800" dirty="0"/>
              <a:t>ניתן לראות ששני המודלים מצליחים ללמוד למרות הפגיעה באיכות התמונה, כאשר </a:t>
            </a:r>
            <a:r>
              <a:rPr lang="en-US" sz="1800" dirty="0"/>
              <a:t>ResNet50 </a:t>
            </a:r>
            <a:r>
              <a:rPr lang="he-IL" sz="1800" dirty="0"/>
              <a:t> מגיע לביצועים מעט טובים יותר ומגיע לכ-54 אחוז דיוק.״</a:t>
            </a:r>
          </a:p>
        </p:txBody>
      </p:sp>
    </p:spTree>
    <p:extLst>
      <p:ext uri="{BB962C8B-B14F-4D97-AF65-F5344CB8AC3E}">
        <p14:creationId xmlns:p14="http://schemas.microsoft.com/office/powerpoint/2010/main" val="106293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43186-8D97-3C6B-E997-1B8072B8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ED3EE430-31C1-5D9B-CFD0-2B8811393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Slide 11 — Effect of Degradation</a:t>
            </a:r>
          </a:p>
          <a:p>
            <a:r>
              <a:rPr lang="he-IL" dirty="0"/>
              <a:t>זו אחת השקופיות </a:t>
            </a:r>
            <a:r>
              <a:rPr lang="he-IL" b="1" dirty="0"/>
              <a:t>הכי חשובות במצגת</a:t>
            </a:r>
            <a:r>
              <a:rPr lang="he-IL" dirty="0"/>
              <a:t>, כי היא מראה שהבעיה המחקרית באמת קיימת.</a:t>
            </a: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8C44198F-276E-9F0A-D2D5-2CA02582AF0D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״בשלב הבא בדקנו כיצד רמת ה-</a:t>
            </a:r>
            <a:r>
              <a:rPr lang="en-US" sz="2000" dirty="0"/>
              <a:t>degradation </a:t>
            </a:r>
            <a:r>
              <a:rPr lang="he-IL" sz="2000" dirty="0"/>
              <a:t> משפיעה על ביצועי הסיווג.</a:t>
            </a:r>
          </a:p>
          <a:p>
            <a:pPr algn="r"/>
            <a:r>
              <a:rPr lang="he-IL" sz="2000" dirty="0"/>
              <a:t>בגרף ניתן לראות את ביצועי המודלים עבור שתי רמות רזולוציה שונות – </a:t>
            </a:r>
            <a:r>
              <a:rPr lang="en-US" sz="2000" dirty="0"/>
              <a:t>low resolution </a:t>
            </a:r>
            <a:r>
              <a:rPr lang="he-IL" sz="2000" dirty="0"/>
              <a:t> של 16 פיקסלים ושל 8 פיקסלים.</a:t>
            </a:r>
          </a:p>
          <a:p>
            <a:pPr algn="r"/>
            <a:r>
              <a:rPr lang="he-IL" sz="2000" dirty="0"/>
              <a:t>כאשר הרזולוציה יורדת, כלומר כאשר התמונה מאבדת יותר מידע, ניתן לראות ירידה בדיוק הסיווג, למרות שביצענו ניסויים רק על שני סוגים של </a:t>
            </a:r>
            <a:r>
              <a:rPr lang="he-IL" sz="2000" dirty="0" err="1"/>
              <a:t>דגרדציות</a:t>
            </a:r>
            <a:r>
              <a:rPr lang="he-IL" sz="2000" dirty="0"/>
              <a:t>.</a:t>
            </a:r>
          </a:p>
          <a:p>
            <a:pPr algn="r"/>
            <a:r>
              <a:rPr lang="he-IL" sz="2000" dirty="0"/>
              <a:t>תוצאה זו מדגישה את הקושי במשימת הסיווג בתנאים של הדמיה ברזולוציה נמוכה, והיא מהווה את המוטיבציה המרכזית לפרויקט שלנו.״</a:t>
            </a:r>
          </a:p>
        </p:txBody>
      </p:sp>
    </p:spTree>
    <p:extLst>
      <p:ext uri="{BB962C8B-B14F-4D97-AF65-F5344CB8AC3E}">
        <p14:creationId xmlns:p14="http://schemas.microsoft.com/office/powerpoint/2010/main" val="2164792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96EE-F011-6F71-D42C-D10F2326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39CD6814-87E0-ED2E-FEB6-206D64F7E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r>
              <a:rPr lang="en-US" b="1" dirty="0"/>
              <a:t>Slide 12 — Example of Image Degradation</a:t>
            </a:r>
          </a:p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5D6B5E9B-86AA-E300-2E9D-775F0F2A7946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״כאן ניתן לראות דוגמה לתהליך ה-</a:t>
            </a:r>
            <a:r>
              <a:rPr lang="en-US" sz="2000" dirty="0"/>
              <a:t> degradation </a:t>
            </a:r>
            <a:r>
              <a:rPr lang="he-IL" sz="2000" dirty="0"/>
              <a:t>שבו אנו משתמשים בפרויקט.</a:t>
            </a:r>
          </a:p>
          <a:p>
            <a:pPr algn="r"/>
            <a:r>
              <a:rPr lang="he-IL" sz="2000" dirty="0"/>
              <a:t>משמאל מופיעה תמונה מקורית מתוך </a:t>
            </a:r>
            <a:r>
              <a:rPr lang="en-US" sz="2000" dirty="0"/>
              <a:t>CIFAR-10 </a:t>
            </a:r>
            <a:r>
              <a:rPr lang="he-IL" sz="2000" dirty="0"/>
              <a:t> . יש לציין שגם התמונות המקוריות </a:t>
            </a:r>
            <a:r>
              <a:rPr lang="he-IL" sz="2000" dirty="0" err="1"/>
              <a:t>בדאטהסט</a:t>
            </a:r>
            <a:r>
              <a:rPr lang="he-IL" sz="2000" dirty="0"/>
              <a:t> </a:t>
            </a:r>
            <a:r>
              <a:rPr lang="en-US" sz="2000" dirty="0"/>
              <a:t> CIFAR-10 </a:t>
            </a:r>
            <a:r>
              <a:rPr lang="he-IL" sz="2000" dirty="0"/>
              <a:t>הן ברזולוציה נמוכה יחסית של 32×32 פיקסלים בלבד.</a:t>
            </a:r>
            <a:endParaRPr lang="en-US" sz="2000" dirty="0"/>
          </a:p>
          <a:p>
            <a:pPr algn="r"/>
            <a:r>
              <a:rPr lang="he-IL" sz="2000" dirty="0"/>
              <a:t>באמצע מופיעה אותה תמונה לאחר הורדת רזולוציה ל-16 פיקסלים ולאחר מכן </a:t>
            </a:r>
            <a:r>
              <a:rPr lang="en-US" sz="2000" dirty="0" err="1"/>
              <a:t>upsampling</a:t>
            </a:r>
            <a:r>
              <a:rPr lang="en-US" sz="2000" dirty="0"/>
              <a:t> </a:t>
            </a:r>
            <a:r>
              <a:rPr lang="he-IL" sz="2000" dirty="0"/>
              <a:t>חזרה לגודל הקלט של הרשת.</a:t>
            </a:r>
          </a:p>
          <a:p>
            <a:pPr algn="r"/>
            <a:r>
              <a:rPr lang="he-IL" sz="2000" dirty="0"/>
              <a:t>מימין ניתן לראות </a:t>
            </a:r>
            <a:r>
              <a:rPr lang="en-US" sz="2000" dirty="0"/>
              <a:t> degradation </a:t>
            </a:r>
            <a:r>
              <a:rPr lang="he-IL" sz="2000" dirty="0"/>
              <a:t>חזק יותר ברזולוציה של 8 פיקסלים בלבד.</a:t>
            </a:r>
          </a:p>
          <a:p>
            <a:pPr algn="r"/>
            <a:r>
              <a:rPr lang="he-IL" sz="2000" dirty="0"/>
              <a:t>ככל שהרזולוציה יורדת, פרטים חזותיים חשובים הולכים לאיבוד, מה שמקשה על משימת הסיווג.״</a:t>
            </a:r>
          </a:p>
        </p:txBody>
      </p:sp>
    </p:spTree>
    <p:extLst>
      <p:ext uri="{BB962C8B-B14F-4D97-AF65-F5344CB8AC3E}">
        <p14:creationId xmlns:p14="http://schemas.microsoft.com/office/powerpoint/2010/main" val="90101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73FF-04C4-D821-005E-11D60401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67A87396-EB13-E4A8-31D2-F7973D3D4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r>
              <a:rPr lang="en-US" b="1" dirty="0"/>
              <a:t>Slide 13 — Discussion / Insights</a:t>
            </a:r>
          </a:p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CA0EE839-8E96-80DD-30FD-160FB922E818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״מהניסויים הראשוניים שביצענו ניתן להסיק מספר תובנות ראשוניות.</a:t>
            </a:r>
          </a:p>
          <a:p>
            <a:pPr algn="r"/>
            <a:r>
              <a:rPr lang="he-IL" sz="2000" dirty="0"/>
              <a:t>ראשית, ניתן לראות שגם כאשר התמונות עוברות </a:t>
            </a:r>
            <a:r>
              <a:rPr lang="en-US" sz="2000" dirty="0"/>
              <a:t>degradation </a:t>
            </a:r>
            <a:r>
              <a:rPr lang="he-IL" sz="2000" dirty="0"/>
              <a:t> משמעותי, מודלים עמוקים עדיין מצליחים לבצע סיווג ברמה מסוימת.</a:t>
            </a:r>
          </a:p>
          <a:p>
            <a:pPr algn="r"/>
            <a:r>
              <a:rPr lang="he-IL" sz="2000" dirty="0"/>
              <a:t>עם זאת, ככל שרמת ה-</a:t>
            </a:r>
            <a:r>
              <a:rPr lang="en-US" sz="2000" dirty="0"/>
              <a:t>degradation </a:t>
            </a:r>
            <a:r>
              <a:rPr lang="he-IL" sz="2000" dirty="0"/>
              <a:t> עולה והרזולוציה יורדת, ביצועי הסיווג נפגעים בצורה ברורה.</a:t>
            </a:r>
          </a:p>
          <a:p>
            <a:pPr algn="r"/>
            <a:r>
              <a:rPr lang="he-IL" sz="2000" dirty="0"/>
              <a:t>בנוסף ניתן לראות כי במערך הניסויים שביצענו, </a:t>
            </a:r>
            <a:r>
              <a:rPr lang="en-US" sz="2000" dirty="0"/>
              <a:t>ResNet50 </a:t>
            </a:r>
            <a:r>
              <a:rPr lang="he-IL" sz="2000" dirty="0"/>
              <a:t> משיג ביצועים מעט טובים יותר בהשוואה ל-</a:t>
            </a:r>
            <a:r>
              <a:rPr lang="en-US" sz="2000" dirty="0"/>
              <a:t>DenseNet121 </a:t>
            </a:r>
            <a:r>
              <a:rPr lang="he-IL" sz="2000" dirty="0"/>
              <a:t>״</a:t>
            </a:r>
            <a:br>
              <a:rPr lang="en-US" sz="2000" dirty="0"/>
            </a:br>
            <a:br>
              <a:rPr lang="en-US" sz="2000" dirty="0"/>
            </a:br>
            <a:r>
              <a:rPr lang="he-IL" sz="2000" dirty="0"/>
              <a:t>הנקודות מסכמות את מה שהראית עד עכשיו:</a:t>
            </a:r>
          </a:p>
          <a:p>
            <a:pPr algn="r"/>
            <a:r>
              <a:rPr lang="he-IL" sz="2000" dirty="0"/>
              <a:t>1️⃣ המודלים </a:t>
            </a:r>
            <a:r>
              <a:rPr lang="he-IL" sz="2000" b="1" dirty="0"/>
              <a:t>עדיין עובדים למרות </a:t>
            </a:r>
            <a:r>
              <a:rPr lang="en-US" sz="2000" b="1" dirty="0"/>
              <a:t>degradation</a:t>
            </a:r>
            <a:br>
              <a:rPr lang="en-US" sz="2000" dirty="0"/>
            </a:br>
            <a:r>
              <a:rPr lang="en-US" sz="2000" dirty="0"/>
              <a:t>2️⃣ degradation </a:t>
            </a:r>
            <a:r>
              <a:rPr lang="he-IL" sz="2000" b="1" dirty="0"/>
              <a:t>באמת פוגע בדיוק</a:t>
            </a:r>
            <a:br>
              <a:rPr lang="he-IL" sz="2000" dirty="0"/>
            </a:br>
            <a:r>
              <a:rPr lang="he-IL" sz="2000" dirty="0"/>
              <a:t>3️⃣ יש </a:t>
            </a:r>
            <a:r>
              <a:rPr lang="he-IL" sz="2000" b="1" dirty="0"/>
              <a:t>הבדל בין ארכיטקטורות</a:t>
            </a:r>
            <a:br>
              <a:rPr lang="he-IL" sz="2000" dirty="0"/>
            </a:br>
            <a:r>
              <a:rPr lang="he-IL" sz="2000" dirty="0"/>
              <a:t>4️⃣ הבעיה </a:t>
            </a:r>
            <a:r>
              <a:rPr lang="he-IL" sz="2000" b="1" dirty="0"/>
              <a:t>חזותית ומוחשית</a:t>
            </a:r>
            <a:r>
              <a:rPr lang="he-IL" sz="2000" dirty="0"/>
              <a:t> (ראינו בתמונות)</a:t>
            </a:r>
          </a:p>
          <a:p>
            <a:pPr algn="r"/>
            <a:r>
              <a:rPr lang="he-IL" sz="2000" dirty="0"/>
              <a:t>זה נותן תחושה של </a:t>
            </a:r>
            <a:r>
              <a:rPr lang="he-IL" sz="2000" b="1" dirty="0"/>
              <a:t>ניתוח תוצאות</a:t>
            </a:r>
            <a:r>
              <a:rPr lang="he-IL" sz="2000" dirty="0"/>
              <a:t>, לא רק הצגה.</a:t>
            </a:r>
          </a:p>
          <a:p>
            <a:pPr algn="r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636045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6F73-DCD0-26CE-956B-2DEFAD8E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95C7B17F-A8A2-BDA2-7ACC-A9804920B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r>
              <a:rPr lang="en-US" b="1" dirty="0"/>
              <a:t>Slide 14 — Current Project Progress</a:t>
            </a:r>
          </a:p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08046424-8EC2-B905-1B19-FF09B5B1F5BF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״מבחינת התקדמות הפרויקט, בשלב זה כבר בנינו את התשתית המרכזית של המערכת.</a:t>
            </a:r>
          </a:p>
          <a:p>
            <a:pPr algn="r"/>
            <a:r>
              <a:rPr lang="he-IL" sz="2000" dirty="0" err="1"/>
              <a:t>הדאטהסט</a:t>
            </a:r>
            <a:r>
              <a:rPr lang="he-IL" sz="2000" dirty="0"/>
              <a:t> </a:t>
            </a:r>
            <a:r>
              <a:rPr lang="en-US" sz="2000" dirty="0"/>
              <a:t>CIFAR-10 </a:t>
            </a:r>
            <a:r>
              <a:rPr lang="he-IL" sz="2000" dirty="0"/>
              <a:t> שולב במערכת, ומימשנו </a:t>
            </a:r>
            <a:r>
              <a:rPr lang="en-US" sz="2000" dirty="0"/>
              <a:t> pipeline </a:t>
            </a:r>
            <a:r>
              <a:rPr lang="he-IL" sz="2000" dirty="0"/>
              <a:t>שמבצע סימולציה של </a:t>
            </a:r>
            <a:r>
              <a:rPr lang="en-US" sz="2000" dirty="0"/>
              <a:t>degradation </a:t>
            </a:r>
            <a:r>
              <a:rPr lang="he-IL" sz="2000" dirty="0"/>
              <a:t> ברזולוציה נמוכה.</a:t>
            </a:r>
          </a:p>
          <a:p>
            <a:pPr algn="r"/>
            <a:r>
              <a:rPr lang="he-IL" sz="2000" dirty="0"/>
              <a:t>בנוסף בנינו </a:t>
            </a:r>
            <a:r>
              <a:rPr lang="en-US" sz="2000" dirty="0"/>
              <a:t>framework </a:t>
            </a:r>
            <a:r>
              <a:rPr lang="he-IL" sz="2000" dirty="0"/>
              <a:t> לאימון המודלים באמצעות </a:t>
            </a:r>
            <a:r>
              <a:rPr lang="en-US" sz="2000" dirty="0"/>
              <a:t> </a:t>
            </a:r>
            <a:r>
              <a:rPr lang="en-US" sz="2000" dirty="0" err="1"/>
              <a:t>PyTorch</a:t>
            </a:r>
            <a:r>
              <a:rPr lang="en-US" sz="2000" dirty="0"/>
              <a:t>, </a:t>
            </a:r>
            <a:r>
              <a:rPr lang="he-IL" sz="2000" dirty="0"/>
              <a:t>והרצנו מספר ניסויים עם מודלים שונים כמו </a:t>
            </a:r>
            <a:r>
              <a:rPr lang="en-US" sz="2000" dirty="0"/>
              <a:t> ResNet50 </a:t>
            </a:r>
            <a:r>
              <a:rPr lang="he-IL" sz="2000" dirty="0"/>
              <a:t>ו-</a:t>
            </a:r>
            <a:r>
              <a:rPr lang="en-US" sz="2000" dirty="0"/>
              <a:t>DenseNet121 </a:t>
            </a:r>
          </a:p>
          <a:p>
            <a:pPr algn="r"/>
            <a:r>
              <a:rPr lang="he-IL" sz="2000" dirty="0"/>
              <a:t>כל ניסוי נשמר בצורה מסודרת כולל לוגים, מדדי ביצועים ומשקלי מודל, מה שמאפשר ניתוח והשוואה בין ניסויים שונים.״</a:t>
            </a:r>
            <a:br>
              <a:rPr lang="en-US" sz="2000" dirty="0"/>
            </a:br>
            <a:br>
              <a:rPr lang="en-US" sz="2000" dirty="0"/>
            </a:br>
            <a:r>
              <a:rPr lang="he-IL" sz="2000" b="1" dirty="0"/>
              <a:t>למה הנקודות האלה טובות</a:t>
            </a:r>
          </a:p>
          <a:p>
            <a:pPr algn="r"/>
            <a:r>
              <a:rPr lang="he-IL" sz="2000" dirty="0"/>
              <a:t>הן מראות שיש כבר:</a:t>
            </a:r>
          </a:p>
          <a:p>
            <a:pPr algn="r"/>
            <a:r>
              <a:rPr lang="he-IL" sz="2000" dirty="0"/>
              <a:t>✔ </a:t>
            </a:r>
            <a:r>
              <a:rPr lang="en-US" sz="2000" dirty="0"/>
              <a:t>Data pipeline</a:t>
            </a:r>
            <a:br>
              <a:rPr lang="en-US" sz="2000" dirty="0"/>
            </a:br>
            <a:r>
              <a:rPr lang="en-US" sz="2000" dirty="0"/>
              <a:t>✔ Simulation pipeline</a:t>
            </a:r>
            <a:br>
              <a:rPr lang="en-US" sz="2000" dirty="0"/>
            </a:br>
            <a:r>
              <a:rPr lang="en-US" sz="2000" dirty="0"/>
              <a:t>✔ Training pipeline</a:t>
            </a:r>
            <a:br>
              <a:rPr lang="en-US" sz="2000" dirty="0"/>
            </a:br>
            <a:r>
              <a:rPr lang="en-US" sz="2000" dirty="0"/>
              <a:t>✔ Experiments</a:t>
            </a:r>
            <a:br>
              <a:rPr lang="en-US" sz="2000" dirty="0"/>
            </a:br>
            <a:r>
              <a:rPr lang="en-US" sz="2000" dirty="0"/>
              <a:t>✔ Experiment management</a:t>
            </a:r>
          </a:p>
          <a:p>
            <a:pPr algn="r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4028711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7E777-1CA0-3055-6324-05CFC7C1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928F965C-B96D-D6C5-6358-92067B8D6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r>
              <a:rPr lang="en-US" b="1" dirty="0"/>
              <a:t>Slide 15 — Future Work</a:t>
            </a:r>
          </a:p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06515207-9A41-28C4-8851-A77637075163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dirty="0"/>
              <a:t>״בשלבים הבאים של הפרויקט אנו מתכננים להרחיב את מערך הניסויים במספר כיוונים.</a:t>
            </a:r>
          </a:p>
          <a:p>
            <a:pPr algn="r"/>
            <a:r>
              <a:rPr lang="he-IL" sz="2000" dirty="0"/>
              <a:t>ראשית, נרצה לבצע ניסויים נוספים עם ארכיטקטורת </a:t>
            </a:r>
            <a:r>
              <a:rPr lang="en-US" sz="2000" dirty="0" err="1"/>
              <a:t>TransNeXt</a:t>
            </a:r>
            <a:r>
              <a:rPr lang="en-US" sz="2000" dirty="0"/>
              <a:t>, </a:t>
            </a:r>
            <a:r>
              <a:rPr lang="he-IL" sz="2000" dirty="0"/>
              <a:t> שהיא המודל המרכזי שאנו מעוניינים לבחון.</a:t>
            </a:r>
          </a:p>
          <a:p>
            <a:pPr algn="r"/>
            <a:r>
              <a:rPr lang="he-IL" sz="2000" dirty="0"/>
              <a:t>בנוסף נבחן רמות </a:t>
            </a:r>
            <a:r>
              <a:rPr lang="en-US" sz="2000" dirty="0"/>
              <a:t> degradation </a:t>
            </a:r>
            <a:r>
              <a:rPr lang="he-IL" sz="2000" dirty="0"/>
              <a:t>נוספות ונרחיב את הניתוח על מנת להבין טוב יותר כיצד פגיעה ברזולוציה משפיעה על ביצועי הסיווג.</a:t>
            </a:r>
          </a:p>
          <a:p>
            <a:pPr algn="r"/>
            <a:r>
              <a:rPr lang="he-IL" sz="2000" dirty="0"/>
              <a:t>כמו כן נשקול לבצע ניסויים גם על </a:t>
            </a:r>
            <a:r>
              <a:rPr lang="he-IL" sz="2000" dirty="0" err="1"/>
              <a:t>דאטהסטים</a:t>
            </a:r>
            <a:r>
              <a:rPr lang="he-IL" sz="2000" dirty="0"/>
              <a:t> נוספים, לדוגמה </a:t>
            </a:r>
            <a:r>
              <a:rPr lang="en-US" sz="2000" dirty="0"/>
              <a:t> MNIST, </a:t>
            </a:r>
            <a:r>
              <a:rPr lang="he-IL" sz="2000" dirty="0"/>
              <a:t>ולבצע כוונון נוסף של פרמטרי האימון.״</a:t>
            </a:r>
          </a:p>
        </p:txBody>
      </p:sp>
    </p:spTree>
    <p:extLst>
      <p:ext uri="{BB962C8B-B14F-4D97-AF65-F5344CB8AC3E}">
        <p14:creationId xmlns:p14="http://schemas.microsoft.com/office/powerpoint/2010/main" val="2782229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AD86-FA8B-1BD4-DA01-496F356B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A060F417-7EC5-8CC6-3006-DCB642F85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658368"/>
            <a:ext cx="9144000" cy="978408"/>
          </a:xfrm>
        </p:spPr>
        <p:txBody>
          <a:bodyPr>
            <a:normAutofit/>
          </a:bodyPr>
          <a:lstStyle/>
          <a:p>
            <a:endParaRPr lang="he-I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כותרת משנה 6">
            <a:extLst>
              <a:ext uri="{FF2B5EF4-FFF2-40B4-BE49-F238E27FC236}">
                <a16:creationId xmlns:a16="http://schemas.microsoft.com/office/drawing/2014/main" id="{45958216-3F20-DE2B-80B3-65C243B4B2BA}"/>
              </a:ext>
            </a:extLst>
          </p:cNvPr>
          <p:cNvSpPr txBox="1">
            <a:spLocks/>
          </p:cNvSpPr>
          <p:nvPr/>
        </p:nvSpPr>
        <p:spPr>
          <a:xfrm>
            <a:off x="1706880" y="1837944"/>
            <a:ext cx="9211056" cy="424281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69645708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1615</Words>
  <Application>Microsoft Office PowerPoint</Application>
  <PresentationFormat>מסך רחב</PresentationFormat>
  <Paragraphs>107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איתמר בהט</dc:creator>
  <cp:lastModifiedBy>איתמר בהט</cp:lastModifiedBy>
  <cp:revision>5</cp:revision>
  <dcterms:created xsi:type="dcterms:W3CDTF">2026-03-14T17:34:28Z</dcterms:created>
  <dcterms:modified xsi:type="dcterms:W3CDTF">2026-03-14T19:46:19Z</dcterms:modified>
</cp:coreProperties>
</file>